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9" r:id="rId3"/>
    <p:sldId id="258" r:id="rId4"/>
  </p:sldIdLst>
  <p:sldSz cx="12192000" cy="6858000"/>
  <p:notesSz cx="6858000" cy="9144000"/>
  <p:defaultTextStyle>
    <a:defPPr>
      <a:defRPr lang="en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63B5A"/>
    <a:srgbClr val="3CCBFF"/>
    <a:srgbClr val="34ADDE"/>
    <a:srgbClr val="2A7FA0"/>
    <a:srgbClr val="5C6B78"/>
    <a:srgbClr val="D7E2E6"/>
    <a:srgbClr val="F4F9FA"/>
    <a:srgbClr val="0A7C88"/>
    <a:srgbClr val="12A6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9631B5-78F2-41C9-869B-9F39066F8104}" styleName="Medium Style 3 –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E25E649-3F16-4E02-A733-19D2CDBF48F0}" styleName="Medium Style 3 –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–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61"/>
    <p:restoredTop sz="94751"/>
  </p:normalViewPr>
  <p:slideViewPr>
    <p:cSldViewPr snapToGrid="0">
      <p:cViewPr>
        <p:scale>
          <a:sx n="123" d="100"/>
          <a:sy n="123" d="100"/>
        </p:scale>
        <p:origin x="536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23A01-D59A-427F-6B4A-4735D6F708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6CCCD6-B209-D382-72FD-9DACAF30E2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692660-5B55-CA62-B8F8-BCB0E1B99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A17334-E733-65CA-622E-88C156AF98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4AFDB5-1B99-4D3D-3D45-E088532E9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492440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61026-9C88-08ED-30D4-30622782D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FB90C3-88DC-C033-69CA-9573B1355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A271A-FA97-526F-4EE4-6F90E4F9A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E60C0A-BFE4-706B-42C2-D616A2253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A910C0-C5D5-662C-1F09-EDE66FF40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73587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E31641-F923-E38B-C0B7-B004DECE7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8115B-AE24-7B69-E63D-C40736631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11F69-E2EE-5EB1-EC29-3F0F7CCEE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AAAC7D-2B75-FE9C-98A6-73EF60DA9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EC0C9E-F4BF-C068-BA6E-95589DBD8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78859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174E9-4A2D-91E0-84B6-6E1480AE3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080BE4-14DF-0392-C64D-089C1B3F0C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00C220-2E8C-8DA3-6349-A60072BDD8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0621AF-462B-4220-D9F5-6AD635349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C4DE30-0556-E9A8-A4F3-693F52C1A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FFE48D-BCEB-348E-CC03-90CEE9B14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61379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C4524-1522-66AC-4916-B88726E05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533816-E391-6C62-E5B6-1B2CB82C67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92B679-B96D-F063-A507-DEC5FB77DA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BE70EB-63C4-174F-4160-46E6BE45BA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5E2E5AA-CE03-C136-8947-60F76E5DAD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5AC947-CC51-011C-B871-6E49378EC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B06243-7C56-FB06-28AA-DEA59DAB0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09EC0B-7692-7A8F-98B6-C20637D9C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925145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B1259-A583-1FAE-0894-7875D3F4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C76B801-C5BB-28DE-84A7-C9AF80035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963F40-2C7C-57CC-E856-D52A290B9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CB7E4D-4C1B-E9E8-779C-98C9874E8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343368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1029963-6848-A67E-B0E8-11DF7E980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358598-B929-131B-992A-736C2F8C2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836F21-F686-D50C-15E7-73C7D254E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626952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B012E-F397-A1AE-4AF4-BD010F209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1EC8FB-0B5A-B6A0-AA41-0CC4142D63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63244-18CB-6115-5229-C86594C4C0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BF970C-498A-638D-70A3-9CA91D7F0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74326B-0186-614C-BA55-565B6BA4E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135F11-0975-0603-CA38-BF65AB0E5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05852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8CD5B-3593-A6E0-C7DD-ED938C48A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6C204E-D3B2-301A-178B-290B96466B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5F0B4D-F074-C238-741D-CF3B1798EA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2AB9E8-4D72-BB3D-B630-7330294E3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DAA87D-C6FD-BEF8-415B-FDD168284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02853E-C514-5773-277E-6F5670529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16896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CA49D-49CC-2E46-FBE1-CE00CAE06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C5E80D-D1DB-5F0B-3EAC-AB050B8607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EA23CE-A7A6-EF6E-A6E8-16ABEF7203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7B3640-270F-E387-0F93-9A924BC9C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BC334-F8CE-C3BA-B236-562ADD6E7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31422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3A5ABB-AC2C-4821-6714-2A4222F7DF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1D8A6A-647A-B0CD-A3EC-42B2B9BDDB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4A0748-2070-7C1E-00ED-755ED3656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F4C116-3F32-9001-159B-EEC78DEC0B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FC46B2-246F-0E7C-584E-23336F8BC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133078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89BF1B-0CBE-BC45-A376-80DB52B47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68DEE1-FF97-A5BF-329B-3D053BA65F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2AA71-1154-B1CC-F3A2-7098795E41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7D0860-531C-6841-B6C8-FF980A9B01E5}" type="datetimeFigureOut">
              <a:rPr lang="en-AU" smtClean="0"/>
              <a:t>28/5/2026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0D69EC-00D5-4D8F-4732-C9C8E51AD1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C0D548-9C18-468B-1261-6EB3C43090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D6E1AE-F269-0B4E-9CF4-75D29719C87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38133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03932-B9A7-BBF1-0F06-B9E641DE0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9781270-B1CA-CC68-8272-76D5B7FC02DC}"/>
              </a:ext>
            </a:extLst>
          </p:cNvPr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2A6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CCCC47-554E-5BB8-32FD-26ACD3E06A08}"/>
              </a:ext>
            </a:extLst>
          </p:cNvPr>
          <p:cNvSpPr/>
          <p:nvPr/>
        </p:nvSpPr>
        <p:spPr>
          <a:xfrm rot="5400000">
            <a:off x="6113788" y="-5933787"/>
            <a:ext cx="144423" cy="12012000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10551A7-7D7F-3473-66BD-3861DDB38FEC}"/>
              </a:ext>
            </a:extLst>
          </p:cNvPr>
          <p:cNvCxnSpPr/>
          <p:nvPr/>
        </p:nvCxnSpPr>
        <p:spPr>
          <a:xfrm>
            <a:off x="451104" y="1024128"/>
            <a:ext cx="11289792" cy="0"/>
          </a:xfrm>
          <a:prstGeom prst="line">
            <a:avLst/>
          </a:prstGeom>
          <a:ln>
            <a:solidFill>
              <a:srgbClr val="D7E2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1413FD2-4082-6B36-FAC6-F4ABD41FFCA0}"/>
              </a:ext>
            </a:extLst>
          </p:cNvPr>
          <p:cNvSpPr txBox="1"/>
          <p:nvPr/>
        </p:nvSpPr>
        <p:spPr>
          <a:xfrm>
            <a:off x="451104" y="269949"/>
            <a:ext cx="24118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2400" b="1" dirty="0">
                <a:solidFill>
                  <a:srgbClr val="0A7C88"/>
                </a:solidFill>
              </a:rPr>
              <a:t>IPSEN Overview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1A7399-7304-370C-46A6-54B7A9373618}"/>
              </a:ext>
            </a:extLst>
          </p:cNvPr>
          <p:cNvSpPr txBox="1"/>
          <p:nvPr/>
        </p:nvSpPr>
        <p:spPr>
          <a:xfrm>
            <a:off x="451104" y="722589"/>
            <a:ext cx="112897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400" dirty="0">
                <a:solidFill>
                  <a:srgbClr val="163B5A"/>
                </a:solidFill>
              </a:rPr>
              <a:t>Oncology is the group cash cow, drives revenue while allow the emergence of neuroscience and rare diseases products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F703125-CAAF-583B-C36A-51A88959B899}"/>
              </a:ext>
            </a:extLst>
          </p:cNvPr>
          <p:cNvSpPr/>
          <p:nvPr/>
        </p:nvSpPr>
        <p:spPr>
          <a:xfrm>
            <a:off x="451104" y="1456816"/>
            <a:ext cx="2900922" cy="45719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C21DBF-B41B-0648-001E-29886316F1AF}"/>
              </a:ext>
            </a:extLst>
          </p:cNvPr>
          <p:cNvSpPr txBox="1"/>
          <p:nvPr/>
        </p:nvSpPr>
        <p:spPr>
          <a:xfrm>
            <a:off x="375258" y="1110343"/>
            <a:ext cx="1012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>
                <a:solidFill>
                  <a:srgbClr val="163B5A"/>
                </a:solidFill>
              </a:rPr>
              <a:t>General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904A1F9-80D6-6B9D-6B51-9FBA23018A5B}"/>
              </a:ext>
            </a:extLst>
          </p:cNvPr>
          <p:cNvSpPr txBox="1"/>
          <p:nvPr/>
        </p:nvSpPr>
        <p:spPr>
          <a:xfrm>
            <a:off x="451104" y="1608530"/>
            <a:ext cx="633669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FR" sz="1200" b="1" dirty="0"/>
              <a:t>Founded:</a:t>
            </a:r>
            <a:r>
              <a:rPr lang="en-FR" sz="1200" dirty="0"/>
              <a:t> 1929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FR" sz="1200" b="1" dirty="0"/>
              <a:t>Main therapeutic areas:</a:t>
            </a:r>
            <a:r>
              <a:rPr lang="en-FR" sz="1200" dirty="0"/>
              <a:t> Oncology, Neurosciences, Rare Diseases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FR" sz="1200" b="1" dirty="0"/>
              <a:t>Commercial footprint:</a:t>
            </a:r>
            <a:r>
              <a:rPr lang="en-FR" sz="1200" dirty="0"/>
              <a:t> 88 countries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FR" sz="1200" b="1" dirty="0"/>
              <a:t>Employees:</a:t>
            </a:r>
            <a:r>
              <a:rPr lang="en-FR" sz="1200" dirty="0"/>
              <a:t> 5,300+ worldwide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FR" sz="1200" b="1" dirty="0"/>
              <a:t>2025 revenue:</a:t>
            </a:r>
            <a:r>
              <a:rPr lang="en-FR" sz="1200" dirty="0"/>
              <a:t> €3.68bn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FR" sz="1200" b="1" dirty="0"/>
              <a:t>Geography sales 2025</a:t>
            </a:r>
            <a:r>
              <a:rPr lang="en-FR" sz="12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FR" sz="1200" b="1" dirty="0"/>
              <a:t>Europe</a:t>
            </a:r>
            <a:r>
              <a:rPr lang="en-FR" sz="1200" dirty="0"/>
              <a:t>: 39.7% Rev (€1.46bn, +15.4% 2024)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FR" sz="1200" b="1" dirty="0"/>
              <a:t>North America</a:t>
            </a:r>
            <a:r>
              <a:rPr lang="en-FR" sz="1200" dirty="0"/>
              <a:t>: 35.1% Rev (€1.29bn, + 9.3% 2024)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FR" sz="1200" b="1" dirty="0"/>
              <a:t>RoW</a:t>
            </a:r>
            <a:r>
              <a:rPr lang="en-FR" sz="1200" dirty="0"/>
              <a:t>: 25.2% Rev (€0.92bn, +7.5% 2024)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FR" sz="1200" b="1" dirty="0"/>
              <a:t>Key takeaways</a:t>
            </a:r>
            <a:endParaRPr lang="en-FR" sz="12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FR" sz="1200" b="1" dirty="0"/>
              <a:t>Oncology as the group’s economic core</a:t>
            </a:r>
            <a:r>
              <a:rPr lang="en-FR" sz="1200" dirty="0"/>
              <a:t> (largest TA &amp; main revenue contributor)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200" b="1" dirty="0"/>
              <a:t>Neurosciences: </a:t>
            </a:r>
            <a:r>
              <a:rPr lang="en-GB" sz="1200" i="1" dirty="0"/>
              <a:t>Dysport</a:t>
            </a:r>
            <a:r>
              <a:rPr lang="en-GB" sz="1200" dirty="0"/>
              <a:t>-led business, with </a:t>
            </a:r>
            <a:r>
              <a:rPr lang="en-GB" sz="1200" i="1" dirty="0" err="1"/>
              <a:t>corabotase</a:t>
            </a:r>
            <a:r>
              <a:rPr lang="en-GB" sz="1200" dirty="0"/>
              <a:t> as next-generation growth relay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FR" sz="1200" b="1" dirty="0"/>
              <a:t>Rare diseases </a:t>
            </a:r>
            <a:r>
              <a:rPr lang="en-FR" sz="1200" dirty="0"/>
              <a:t>as portfolio diversification</a:t>
            </a:r>
            <a:endParaRPr lang="en-AU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DF435D-1ACB-FF21-2115-A000A2EA182D}"/>
              </a:ext>
            </a:extLst>
          </p:cNvPr>
          <p:cNvSpPr txBox="1"/>
          <p:nvPr/>
        </p:nvSpPr>
        <p:spPr>
          <a:xfrm>
            <a:off x="13102814" y="5690795"/>
            <a:ext cx="2311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/>
              <a:t> 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A188FADF-309A-399C-3546-0C19F4F2DA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8206680"/>
              </p:ext>
            </p:extLst>
          </p:nvPr>
        </p:nvGraphicFramePr>
        <p:xfrm>
          <a:off x="6874867" y="2112944"/>
          <a:ext cx="5232065" cy="3720465"/>
        </p:xfrm>
        <a:graphic>
          <a:graphicData uri="http://schemas.openxmlformats.org/drawingml/2006/table">
            <a:tbl>
              <a:tblPr/>
              <a:tblGrid>
                <a:gridCol w="2685103">
                  <a:extLst>
                    <a:ext uri="{9D8B030D-6E8A-4147-A177-3AD203B41FA5}">
                      <a16:colId xmlns:a16="http://schemas.microsoft.com/office/drawing/2014/main" val="1086495563"/>
                    </a:ext>
                  </a:extLst>
                </a:gridCol>
                <a:gridCol w="966982">
                  <a:extLst>
                    <a:ext uri="{9D8B030D-6E8A-4147-A177-3AD203B41FA5}">
                      <a16:colId xmlns:a16="http://schemas.microsoft.com/office/drawing/2014/main" val="3095386841"/>
                    </a:ext>
                  </a:extLst>
                </a:gridCol>
                <a:gridCol w="966982">
                  <a:extLst>
                    <a:ext uri="{9D8B030D-6E8A-4147-A177-3AD203B41FA5}">
                      <a16:colId xmlns:a16="http://schemas.microsoft.com/office/drawing/2014/main" val="2581013858"/>
                    </a:ext>
                  </a:extLst>
                </a:gridCol>
                <a:gridCol w="612998">
                  <a:extLst>
                    <a:ext uri="{9D8B030D-6E8A-4147-A177-3AD203B41FA5}">
                      <a16:colId xmlns:a16="http://schemas.microsoft.com/office/drawing/2014/main" val="1447243760"/>
                    </a:ext>
                  </a:extLst>
                </a:gridCol>
              </a:tblGrid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900" b="0" i="1" u="none" strike="noStrike" dirty="0">
                          <a:solidFill>
                            <a:srgbClr val="808080"/>
                          </a:solidFill>
                          <a:effectLst/>
                          <a:latin typeface="Arial" panose="020B0604020202020204" pitchFamily="34" charset="0"/>
                        </a:rPr>
                        <a:t>(in million of euros)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2025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2024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YoY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1293505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1" i="0" u="none" strike="noStrike" dirty="0">
                          <a:effectLst/>
                          <a:latin typeface="Arial" panose="020B0604020202020204" pitchFamily="34" charset="0"/>
                        </a:rPr>
                        <a:t>Revenue</a:t>
                      </a:r>
                    </a:p>
                  </a:txBody>
                  <a:tcPr marL="857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 $             3 676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 $             3 401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8%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6418651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1" u="none" strike="noStrike">
                          <a:effectLst/>
                          <a:latin typeface="Arial" panose="020B0604020202020204" pitchFamily="34" charset="0"/>
                        </a:rPr>
                        <a:t>Oncology</a:t>
                      </a:r>
                    </a:p>
                  </a:txBody>
                  <a:tcPr marL="25717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1" u="none" strike="noStrike">
                          <a:effectLst/>
                          <a:latin typeface="Arial" panose="020B0604020202020204" pitchFamily="34" charset="0"/>
                        </a:rPr>
                        <a:t> $            2 544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1" u="none" strike="noStrike">
                          <a:effectLst/>
                          <a:latin typeface="Arial" panose="020B0604020202020204" pitchFamily="34" charset="0"/>
                        </a:rPr>
                        <a:t> $            2 505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2%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2671932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1" u="none" strike="noStrike">
                          <a:solidFill>
                            <a:srgbClr val="808080"/>
                          </a:solidFill>
                          <a:effectLst/>
                          <a:latin typeface="Arial" panose="020B0604020202020204" pitchFamily="34" charset="0"/>
                        </a:rPr>
                        <a:t>% Oncology/Rev</a:t>
                      </a:r>
                    </a:p>
                  </a:txBody>
                  <a:tcPr marL="25717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FR" sz="1050" b="0" i="1" u="none" strike="noStrike">
                          <a:solidFill>
                            <a:srgbClr val="808080"/>
                          </a:solidFill>
                          <a:effectLst/>
                          <a:latin typeface="Arial" panose="020B0604020202020204" pitchFamily="34" charset="0"/>
                        </a:rPr>
                        <a:t>69%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FR" sz="1050" b="0" i="1" u="none" strike="noStrike">
                          <a:solidFill>
                            <a:srgbClr val="808080"/>
                          </a:solidFill>
                          <a:effectLst/>
                          <a:latin typeface="Arial" panose="020B0604020202020204" pitchFamily="34" charset="0"/>
                        </a:rPr>
                        <a:t>74%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1373604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1" u="none" strike="noStrike">
                          <a:effectLst/>
                          <a:latin typeface="Arial" panose="020B0604020202020204" pitchFamily="34" charset="0"/>
                        </a:rPr>
                        <a:t>Neurosciences</a:t>
                      </a:r>
                    </a:p>
                  </a:txBody>
                  <a:tcPr marL="25717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1" u="none" strike="noStrike">
                          <a:effectLst/>
                          <a:latin typeface="Arial" panose="020B0604020202020204" pitchFamily="34" charset="0"/>
                        </a:rPr>
                        <a:t> $               746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1" u="none" strike="noStrike">
                          <a:effectLst/>
                          <a:latin typeface="Arial" panose="020B0604020202020204" pitchFamily="34" charset="0"/>
                        </a:rPr>
                        <a:t> $               701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7%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8145632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1" u="none" strike="noStrike">
                          <a:solidFill>
                            <a:srgbClr val="808080"/>
                          </a:solidFill>
                          <a:effectLst/>
                          <a:latin typeface="Arial" panose="020B0604020202020204" pitchFamily="34" charset="0"/>
                        </a:rPr>
                        <a:t>% Neurosciences/Rev</a:t>
                      </a:r>
                    </a:p>
                  </a:txBody>
                  <a:tcPr marL="25717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FR" sz="1050" b="0" i="1" u="none" strike="noStrike">
                          <a:solidFill>
                            <a:srgbClr val="808080"/>
                          </a:solidFill>
                          <a:effectLst/>
                          <a:latin typeface="Arial" panose="020B0604020202020204" pitchFamily="34" charset="0"/>
                        </a:rPr>
                        <a:t>20%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FR" sz="1050" b="0" i="1" u="none" strike="noStrike">
                          <a:solidFill>
                            <a:srgbClr val="808080"/>
                          </a:solidFill>
                          <a:effectLst/>
                          <a:latin typeface="Arial" panose="020B0604020202020204" pitchFamily="34" charset="0"/>
                        </a:rPr>
                        <a:t>21%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554571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1" u="none" strike="noStrike">
                          <a:effectLst/>
                          <a:latin typeface="Arial" panose="020B0604020202020204" pitchFamily="34" charset="0"/>
                        </a:rPr>
                        <a:t>Rare diseases</a:t>
                      </a:r>
                    </a:p>
                  </a:txBody>
                  <a:tcPr marL="25717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1" u="none" strike="noStrike">
                          <a:effectLst/>
                          <a:latin typeface="Arial" panose="020B0604020202020204" pitchFamily="34" charset="0"/>
                        </a:rPr>
                        <a:t> $               386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1" u="none" strike="noStrike">
                          <a:effectLst/>
                          <a:latin typeface="Arial" panose="020B0604020202020204" pitchFamily="34" charset="0"/>
                        </a:rPr>
                        <a:t> $               196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97%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3790158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1" u="none" strike="noStrike">
                          <a:solidFill>
                            <a:srgbClr val="808080"/>
                          </a:solidFill>
                          <a:effectLst/>
                          <a:latin typeface="Arial" panose="020B0604020202020204" pitchFamily="34" charset="0"/>
                        </a:rPr>
                        <a:t>% Rare diseases/Rev</a:t>
                      </a:r>
                    </a:p>
                  </a:txBody>
                  <a:tcPr marL="25717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FR" sz="1050" b="0" i="1" u="none" strike="noStrike">
                          <a:solidFill>
                            <a:srgbClr val="808080"/>
                          </a:solidFill>
                          <a:effectLst/>
                          <a:latin typeface="Arial" panose="020B0604020202020204" pitchFamily="34" charset="0"/>
                        </a:rPr>
                        <a:t>11%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FR" sz="1050" b="0" i="1" u="none" strike="noStrike">
                          <a:solidFill>
                            <a:srgbClr val="808080"/>
                          </a:solidFill>
                          <a:effectLst/>
                          <a:latin typeface="Arial" panose="020B0604020202020204" pitchFamily="34" charset="0"/>
                        </a:rPr>
                        <a:t>6%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3971473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Cost of sales</a:t>
                      </a:r>
                    </a:p>
                  </a:txBody>
                  <a:tcPr marL="25717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 $             ( 751)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 $             ( 704)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7%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0574439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Gross Margin</a:t>
                      </a:r>
                    </a:p>
                  </a:txBody>
                  <a:tcPr marL="857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 $             3 178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 $             2 870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11%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5470252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Selling general and administrative expenses</a:t>
                      </a:r>
                    </a:p>
                  </a:txBody>
                  <a:tcPr marL="857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 $           (1 163)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 $           (1 088)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7%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314584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1" u="none" strike="noStrike">
                          <a:solidFill>
                            <a:srgbClr val="808080"/>
                          </a:solidFill>
                          <a:effectLst/>
                          <a:latin typeface="Arial" panose="020B0604020202020204" pitchFamily="34" charset="0"/>
                        </a:rPr>
                        <a:t>% SG&amp;A/Rev</a:t>
                      </a:r>
                    </a:p>
                  </a:txBody>
                  <a:tcPr marL="25717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FR" sz="1050" b="0" i="1" u="none" strike="noStrike">
                          <a:solidFill>
                            <a:srgbClr val="808080"/>
                          </a:solidFill>
                          <a:effectLst/>
                          <a:latin typeface="Arial" panose="020B0604020202020204" pitchFamily="34" charset="0"/>
                        </a:rPr>
                        <a:t>32%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FR" sz="1050" b="0" i="1" u="none" strike="noStrike">
                          <a:solidFill>
                            <a:srgbClr val="808080"/>
                          </a:solidFill>
                          <a:effectLst/>
                          <a:latin typeface="Arial" panose="020B0604020202020204" pitchFamily="34" charset="0"/>
                        </a:rPr>
                        <a:t>32%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1368655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 dirty="0">
                          <a:effectLst/>
                          <a:latin typeface="Arial" panose="020B0604020202020204" pitchFamily="34" charset="0"/>
                        </a:rPr>
                        <a:t>Research and development expenses</a:t>
                      </a:r>
                    </a:p>
                  </a:txBody>
                  <a:tcPr marL="857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 $             ( 754)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 $             ( 687)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10%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3090504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1" u="none" strike="noStrike">
                          <a:solidFill>
                            <a:srgbClr val="808080"/>
                          </a:solidFill>
                          <a:effectLst/>
                          <a:latin typeface="Arial" panose="020B0604020202020204" pitchFamily="34" charset="0"/>
                        </a:rPr>
                        <a:t>% R&amp;D/Rev</a:t>
                      </a:r>
                    </a:p>
                  </a:txBody>
                  <a:tcPr marL="25717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FR" sz="1050" b="0" i="1" u="none" strike="noStrike">
                          <a:solidFill>
                            <a:srgbClr val="808080"/>
                          </a:solidFill>
                          <a:effectLst/>
                          <a:latin typeface="Arial" panose="020B0604020202020204" pitchFamily="34" charset="0"/>
                        </a:rPr>
                        <a:t>21%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FR" sz="1050" b="0" i="1" u="none" strike="noStrike">
                          <a:solidFill>
                            <a:srgbClr val="808080"/>
                          </a:solidFill>
                          <a:effectLst/>
                          <a:latin typeface="Arial" panose="020B0604020202020204" pitchFamily="34" charset="0"/>
                        </a:rPr>
                        <a:t>20%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0777429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Other</a:t>
                      </a:r>
                    </a:p>
                  </a:txBody>
                  <a:tcPr marL="857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 $             ( 288)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 $             ( 318)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-10%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809464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Impairment losses</a:t>
                      </a:r>
                    </a:p>
                  </a:txBody>
                  <a:tcPr marL="857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 $             ( 347)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 $             ( 281)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24%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704503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Operating Income</a:t>
                      </a:r>
                    </a:p>
                  </a:txBody>
                  <a:tcPr marL="857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 $                626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 $                497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26%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8822685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Total financial income and expenses</a:t>
                      </a:r>
                    </a:p>
                  </a:txBody>
                  <a:tcPr marL="857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 $             ( 181)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 $             ( 149)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21%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4804352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Consolidated Net Profit</a:t>
                      </a:r>
                    </a:p>
                  </a:txBody>
                  <a:tcPr marL="857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 $                445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 $                347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28%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9691924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Basic Earnings Per Share (in euros)</a:t>
                      </a:r>
                    </a:p>
                  </a:txBody>
                  <a:tcPr marL="857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 $                    5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 $                    4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795604"/>
                  </a:ext>
                </a:extLst>
              </a:tr>
              <a:tr h="1094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Diluted Earnings Per Share (in euros)</a:t>
                      </a:r>
                    </a:p>
                  </a:txBody>
                  <a:tcPr marL="857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 $                    5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050" b="1" i="0" u="none" strike="noStrike">
                          <a:effectLst/>
                          <a:latin typeface="Arial" panose="020B0604020202020204" pitchFamily="34" charset="0"/>
                        </a:rPr>
                        <a:t> $                    4 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50" b="0" i="0" u="none" strike="noStrike" dirty="0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954918"/>
                  </a:ext>
                </a:extLst>
              </a:tr>
            </a:tbl>
          </a:graphicData>
        </a:graphic>
      </p:graphicFrame>
      <p:sp>
        <p:nvSpPr>
          <p:cNvPr id="24" name="Rectangle 23">
            <a:extLst>
              <a:ext uri="{FF2B5EF4-FFF2-40B4-BE49-F238E27FC236}">
                <a16:creationId xmlns:a16="http://schemas.microsoft.com/office/drawing/2014/main" id="{759E410D-241E-46EC-CC8F-BC9119AEC800}"/>
              </a:ext>
            </a:extLst>
          </p:cNvPr>
          <p:cNvSpPr/>
          <p:nvPr/>
        </p:nvSpPr>
        <p:spPr>
          <a:xfrm>
            <a:off x="6863648" y="1912951"/>
            <a:ext cx="2900922" cy="45719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F6AD165-8413-8562-8CBC-F6DF9DEB7EB6}"/>
              </a:ext>
            </a:extLst>
          </p:cNvPr>
          <p:cNvSpPr txBox="1"/>
          <p:nvPr/>
        </p:nvSpPr>
        <p:spPr>
          <a:xfrm>
            <a:off x="6787802" y="1566478"/>
            <a:ext cx="1265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>
                <a:solidFill>
                  <a:srgbClr val="163B5A"/>
                </a:solidFill>
              </a:rPr>
              <a:t>Financials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0C09DE2-899D-8DC4-90B4-C5DDAC5D7BFC}"/>
              </a:ext>
            </a:extLst>
          </p:cNvPr>
          <p:cNvSpPr/>
          <p:nvPr/>
        </p:nvSpPr>
        <p:spPr>
          <a:xfrm>
            <a:off x="526950" y="4632659"/>
            <a:ext cx="2900922" cy="45719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29DD423-1ECE-A203-FA18-511DF4D5D84E}"/>
              </a:ext>
            </a:extLst>
          </p:cNvPr>
          <p:cNvSpPr txBox="1"/>
          <p:nvPr/>
        </p:nvSpPr>
        <p:spPr>
          <a:xfrm>
            <a:off x="451104" y="4286186"/>
            <a:ext cx="11333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>
                <a:solidFill>
                  <a:srgbClr val="163B5A"/>
                </a:solidFill>
              </a:rPr>
              <a:t>Products</a:t>
            </a:r>
          </a:p>
        </p:txBody>
      </p:sp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263C2BD3-25AA-1DA2-4148-3233276D27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218955"/>
              </p:ext>
            </p:extLst>
          </p:nvPr>
        </p:nvGraphicFramePr>
        <p:xfrm>
          <a:off x="526950" y="4765380"/>
          <a:ext cx="6118293" cy="1964554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1247529">
                  <a:extLst>
                    <a:ext uri="{9D8B030D-6E8A-4147-A177-3AD203B41FA5}">
                      <a16:colId xmlns:a16="http://schemas.microsoft.com/office/drawing/2014/main" val="1755445364"/>
                    </a:ext>
                  </a:extLst>
                </a:gridCol>
                <a:gridCol w="986828">
                  <a:extLst>
                    <a:ext uri="{9D8B030D-6E8A-4147-A177-3AD203B41FA5}">
                      <a16:colId xmlns:a16="http://schemas.microsoft.com/office/drawing/2014/main" val="1116672927"/>
                    </a:ext>
                  </a:extLst>
                </a:gridCol>
                <a:gridCol w="959667">
                  <a:extLst>
                    <a:ext uri="{9D8B030D-6E8A-4147-A177-3AD203B41FA5}">
                      <a16:colId xmlns:a16="http://schemas.microsoft.com/office/drawing/2014/main" val="4258530580"/>
                    </a:ext>
                  </a:extLst>
                </a:gridCol>
                <a:gridCol w="1013988">
                  <a:extLst>
                    <a:ext uri="{9D8B030D-6E8A-4147-A177-3AD203B41FA5}">
                      <a16:colId xmlns:a16="http://schemas.microsoft.com/office/drawing/2014/main" val="3265045297"/>
                    </a:ext>
                  </a:extLst>
                </a:gridCol>
                <a:gridCol w="876745">
                  <a:extLst>
                    <a:ext uri="{9D8B030D-6E8A-4147-A177-3AD203B41FA5}">
                      <a16:colId xmlns:a16="http://schemas.microsoft.com/office/drawing/2014/main" val="4174490988"/>
                    </a:ext>
                  </a:extLst>
                </a:gridCol>
                <a:gridCol w="1033536">
                  <a:extLst>
                    <a:ext uri="{9D8B030D-6E8A-4147-A177-3AD203B41FA5}">
                      <a16:colId xmlns:a16="http://schemas.microsoft.com/office/drawing/2014/main" val="1289759013"/>
                    </a:ext>
                  </a:extLst>
                </a:gridCol>
              </a:tblGrid>
              <a:tr h="2599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FR" sz="10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Product</a:t>
                      </a:r>
                      <a:endParaRPr lang="en-FR" sz="10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FR" sz="1000" b="1" u="none" strike="noStrike">
                          <a:solidFill>
                            <a:schemeClr val="bg1"/>
                          </a:solidFill>
                          <a:effectLst/>
                        </a:rPr>
                        <a:t>TA</a:t>
                      </a:r>
                      <a:endParaRPr lang="en-FR" sz="1000" b="1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FR" sz="10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Rev 2025 (€M)</a:t>
                      </a:r>
                      <a:endParaRPr lang="en-FR" sz="10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FR" sz="10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Variation 2024</a:t>
                      </a:r>
                      <a:endParaRPr lang="en-FR" sz="1000" b="1" i="0" u="none" strike="noStrike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Type</a:t>
                      </a:r>
                      <a:endParaRPr lang="en-FR" sz="1000" b="1" i="0" u="none" strike="noStrike" dirty="0">
                        <a:solidFill>
                          <a:schemeClr val="bg1"/>
                        </a:solidFill>
                        <a:effectLst/>
                        <a:latin typeface="Carlito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Carlito"/>
                        </a:rPr>
                        <a:t>LOE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746744846"/>
                  </a:ext>
                </a:extLst>
              </a:tr>
              <a:tr h="17634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Somatuline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Oncology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$         1 135 </a:t>
                      </a:r>
                      <a:endParaRPr lang="en-FR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4.3%</a:t>
                      </a:r>
                      <a:endParaRPr lang="en-FR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Peptid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Expired (2015)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93734328"/>
                  </a:ext>
                </a:extLst>
              </a:tr>
              <a:tr h="17634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Cabometyx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Oncology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$            613 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5.1%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43314011"/>
                  </a:ext>
                </a:extLst>
              </a:tr>
              <a:tr h="17634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Decapeptyl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Oncology</a:t>
                      </a:r>
                      <a:endParaRPr lang="en-FR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$            543 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2.7%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Peptid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Expired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31744614"/>
                  </a:ext>
                </a:extLst>
              </a:tr>
              <a:tr h="17634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Onivyde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Oncology</a:t>
                      </a:r>
                      <a:endParaRPr lang="en-FR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$            207 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6.2%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2036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02811013"/>
                  </a:ext>
                </a:extLst>
              </a:tr>
              <a:tr h="17634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Tazverik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Oncology</a:t>
                      </a:r>
                      <a:endParaRPr lang="en-FR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$              41 </a:t>
                      </a:r>
                      <a:endParaRPr lang="en-FR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-9.1%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2032 (withdrew</a:t>
                      </a:r>
                      <a:r>
                        <a:rPr lang="en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  <a:endParaRPr lang="en-GB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31630276"/>
                  </a:ext>
                </a:extLst>
              </a:tr>
              <a:tr h="2057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Iqirvo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Rare Diseases</a:t>
                      </a:r>
                      <a:endParaRPr lang="en-FR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$            184 </a:t>
                      </a:r>
                      <a:endParaRPr lang="en-FR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n/a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2037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06977273"/>
                  </a:ext>
                </a:extLst>
              </a:tr>
              <a:tr h="2057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Bylvay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Rare Diseases</a:t>
                      </a:r>
                      <a:endParaRPr lang="en-FR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$            180 </a:t>
                      </a:r>
                      <a:endParaRPr lang="en-FR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36.3%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2039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5480271"/>
                  </a:ext>
                </a:extLst>
              </a:tr>
              <a:tr h="2057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Sohonos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Rare Diseases</a:t>
                      </a:r>
                      <a:endParaRPr lang="en-FR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$              21 </a:t>
                      </a:r>
                      <a:endParaRPr lang="en-FR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0.1%</a:t>
                      </a:r>
                      <a:endParaRPr lang="en-FR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SM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2038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64204970"/>
                  </a:ext>
                </a:extLst>
              </a:tr>
              <a:tr h="2057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Dysport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Neurosciences</a:t>
                      </a:r>
                      <a:endParaRPr lang="en-FR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$            734 </a:t>
                      </a:r>
                      <a:endParaRPr lang="en-FR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9.7%</a:t>
                      </a:r>
                      <a:endParaRPr lang="en-FR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Biologics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N/A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180323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8389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D59CB-6B9B-1D93-F333-21890B19F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507CEFD-77F8-7C0E-E7E7-597A1250BC0E}"/>
              </a:ext>
            </a:extLst>
          </p:cNvPr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2A6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E542B0-C73B-8789-6A5D-ED5EA0330E7F}"/>
              </a:ext>
            </a:extLst>
          </p:cNvPr>
          <p:cNvSpPr/>
          <p:nvPr/>
        </p:nvSpPr>
        <p:spPr>
          <a:xfrm rot="5400000">
            <a:off x="6113788" y="-5933787"/>
            <a:ext cx="144423" cy="12012000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B387E16-F46A-D91B-F9C2-BB873034C657}"/>
              </a:ext>
            </a:extLst>
          </p:cNvPr>
          <p:cNvCxnSpPr/>
          <p:nvPr/>
        </p:nvCxnSpPr>
        <p:spPr>
          <a:xfrm>
            <a:off x="451104" y="1024128"/>
            <a:ext cx="11289792" cy="0"/>
          </a:xfrm>
          <a:prstGeom prst="line">
            <a:avLst/>
          </a:prstGeom>
          <a:ln>
            <a:solidFill>
              <a:srgbClr val="D7E2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8D9E3B2-8917-F90B-28DC-ACACD708ACBD}"/>
              </a:ext>
            </a:extLst>
          </p:cNvPr>
          <p:cNvSpPr txBox="1"/>
          <p:nvPr/>
        </p:nvSpPr>
        <p:spPr>
          <a:xfrm>
            <a:off x="451104" y="269949"/>
            <a:ext cx="55463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2400" b="1" dirty="0">
                <a:solidFill>
                  <a:srgbClr val="0A7C88"/>
                </a:solidFill>
              </a:rPr>
              <a:t>Key Markets &amp; Competitive Landscape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23FB21-C863-6D93-9C5D-DC58F4E2CA8E}"/>
              </a:ext>
            </a:extLst>
          </p:cNvPr>
          <p:cNvSpPr txBox="1"/>
          <p:nvPr/>
        </p:nvSpPr>
        <p:spPr>
          <a:xfrm>
            <a:off x="451104" y="716351"/>
            <a:ext cx="112897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400" dirty="0">
                <a:solidFill>
                  <a:srgbClr val="163B5A"/>
                </a:solidFill>
              </a:rPr>
              <a:t>XXXX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0C5C1B1-901C-657B-7FAA-AA9A5CD1BF22}"/>
              </a:ext>
            </a:extLst>
          </p:cNvPr>
          <p:cNvSpPr/>
          <p:nvPr/>
        </p:nvSpPr>
        <p:spPr>
          <a:xfrm>
            <a:off x="451104" y="1447671"/>
            <a:ext cx="2900922" cy="45719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DFB974-72E5-20EC-A8D8-06F57E7DB71C}"/>
              </a:ext>
            </a:extLst>
          </p:cNvPr>
          <p:cNvSpPr txBox="1"/>
          <p:nvPr/>
        </p:nvSpPr>
        <p:spPr>
          <a:xfrm>
            <a:off x="375258" y="1101198"/>
            <a:ext cx="5425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 err="1">
                <a:solidFill>
                  <a:srgbClr val="163B5A"/>
                </a:solidFill>
              </a:rPr>
              <a:t>MoA</a:t>
            </a:r>
            <a:r>
              <a:rPr lang="en-AU" b="1" dirty="0">
                <a:solidFill>
                  <a:srgbClr val="163B5A"/>
                </a:solidFill>
              </a:rPr>
              <a:t> and Indications for Market and Competition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370DBFD2-2318-2FB9-7C42-459C18A848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735135"/>
              </p:ext>
            </p:extLst>
          </p:nvPr>
        </p:nvGraphicFramePr>
        <p:xfrm>
          <a:off x="451104" y="1620715"/>
          <a:ext cx="11289791" cy="1594485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1935981">
                  <a:extLst>
                    <a:ext uri="{9D8B030D-6E8A-4147-A177-3AD203B41FA5}">
                      <a16:colId xmlns:a16="http://schemas.microsoft.com/office/drawing/2014/main" val="4200776620"/>
                    </a:ext>
                  </a:extLst>
                </a:gridCol>
                <a:gridCol w="2718611">
                  <a:extLst>
                    <a:ext uri="{9D8B030D-6E8A-4147-A177-3AD203B41FA5}">
                      <a16:colId xmlns:a16="http://schemas.microsoft.com/office/drawing/2014/main" val="3962167202"/>
                    </a:ext>
                  </a:extLst>
                </a:gridCol>
                <a:gridCol w="6635199">
                  <a:extLst>
                    <a:ext uri="{9D8B030D-6E8A-4147-A177-3AD203B41FA5}">
                      <a16:colId xmlns:a16="http://schemas.microsoft.com/office/drawing/2014/main" val="1114885578"/>
                    </a:ext>
                  </a:extLst>
                </a:gridCol>
              </a:tblGrid>
              <a:tr h="12597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FR" sz="1100" b="1" u="none" strike="noStrike" dirty="0">
                          <a:solidFill>
                            <a:srgbClr val="FFFFFF"/>
                          </a:solidFill>
                          <a:effectLst/>
                        </a:rPr>
                        <a:t>TA</a:t>
                      </a:r>
                      <a:endParaRPr lang="en-FR" sz="1100" b="1" i="0" u="none" strike="noStrike" dirty="0">
                        <a:solidFill>
                          <a:srgbClr val="FFFFFF"/>
                        </a:solidFill>
                        <a:effectLst/>
                        <a:latin typeface="Carlito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FR" sz="1100" b="1" u="none" strike="noStrike" dirty="0">
                          <a:solidFill>
                            <a:srgbClr val="FFFFFF"/>
                          </a:solidFill>
                          <a:effectLst/>
                        </a:rPr>
                        <a:t>Asset (Product / Pipeline)</a:t>
                      </a:r>
                      <a:endParaRPr lang="en-FR" sz="1100" b="1" i="0" u="none" strike="noStrike" dirty="0">
                        <a:solidFill>
                          <a:srgbClr val="FFFFFF"/>
                        </a:solidFill>
                        <a:effectLst/>
                        <a:latin typeface="Carlito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FR" sz="1100" b="1" u="none" strike="noStrike" dirty="0">
                          <a:solidFill>
                            <a:srgbClr val="FFFFFF"/>
                          </a:solidFill>
                          <a:effectLst/>
                        </a:rPr>
                        <a:t>MoA / Market</a:t>
                      </a:r>
                      <a:endParaRPr lang="en-FR" sz="1100" b="1" i="0" u="none" strike="noStrike" dirty="0">
                        <a:solidFill>
                          <a:srgbClr val="FFFFFF"/>
                        </a:solidFill>
                        <a:effectLst/>
                        <a:latin typeface="Carlito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33554430"/>
                  </a:ext>
                </a:extLst>
              </a:tr>
              <a:tr h="118104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Oncology</a:t>
                      </a:r>
                      <a:endParaRPr kumimoji="0" lang="en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rlito"/>
                        <a:ea typeface="+mn-ea"/>
                        <a:cs typeface="+mn-cs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Somatuline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100" dirty="0"/>
                        <a:t>somatostatin analog (peptide)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849279326"/>
                  </a:ext>
                </a:extLst>
              </a:tr>
              <a:tr h="118104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FR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Oncology</a:t>
                      </a:r>
                      <a:endParaRPr kumimoji="0" lang="en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rlito"/>
                        <a:ea typeface="+mn-ea"/>
                        <a:cs typeface="+mn-cs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Cabometyx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26320237"/>
                  </a:ext>
                </a:extLst>
              </a:tr>
              <a:tr h="118104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FR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Oncology</a:t>
                      </a:r>
                      <a:endParaRPr kumimoji="0" lang="en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rlito"/>
                        <a:ea typeface="+mn-ea"/>
                        <a:cs typeface="+mn-cs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Decapeptyl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91110887"/>
                  </a:ext>
                </a:extLst>
              </a:tr>
              <a:tr h="118104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FR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Oncology</a:t>
                      </a:r>
                      <a:endParaRPr kumimoji="0" lang="en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rlito"/>
                        <a:ea typeface="+mn-ea"/>
                        <a:cs typeface="+mn-cs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000" b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Onivyde</a:t>
                      </a:r>
                      <a:endParaRPr lang="en-FR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39620745"/>
                  </a:ext>
                </a:extLst>
              </a:tr>
              <a:tr h="118104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F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Oncology</a:t>
                      </a:r>
                      <a:endParaRPr kumimoji="0" lang="en-F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rlito"/>
                        <a:ea typeface="+mn-ea"/>
                        <a:cs typeface="+mn-cs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100" b="0" u="none" strike="noStrike" dirty="0">
                          <a:effectLst/>
                        </a:rPr>
                        <a:t>Ojemda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0" u="none" strike="noStrike" dirty="0">
                          <a:effectLst/>
                        </a:rPr>
                        <a:t>RAF inhibitor targeting BRAF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10521652"/>
                  </a:ext>
                </a:extLst>
              </a:tr>
              <a:tr h="11810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Oncology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100" b="0" u="none" strike="noStrike" dirty="0">
                          <a:effectLst/>
                        </a:rPr>
                        <a:t>IPN60340 / ICT01</a:t>
                      </a:r>
                      <a:r>
                        <a:rPr lang="en-FR" sz="1100" b="0" i="0" u="none" strike="noStrike" dirty="0">
                          <a:effectLst/>
                          <a:latin typeface="Carlito"/>
                        </a:rPr>
                        <a:t>, </a:t>
                      </a:r>
                      <a:r>
                        <a:rPr lang="en-FR" sz="1100" b="0" u="none" strike="noStrike" dirty="0">
                          <a:effectLst/>
                        </a:rPr>
                        <a:t>IPN01203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0" u="none" strike="noStrike" dirty="0">
                          <a:effectLst/>
                        </a:rPr>
                        <a:t>T-cell activator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64132227"/>
                  </a:ext>
                </a:extLst>
              </a:tr>
              <a:tr h="11810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100" b="0" i="0" u="none" strike="noStrike" dirty="0">
                          <a:effectLst/>
                          <a:latin typeface="Carlito"/>
                        </a:rPr>
                        <a:t>Rare Diseases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Iqirvo, Elafibranor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100" b="0" u="none" strike="noStrike" dirty="0">
                          <a:effectLst/>
                        </a:rPr>
                        <a:t>PPAR </a:t>
                      </a:r>
                      <a:r>
                        <a:rPr lang="el-GR" sz="1100" b="0" u="none" strike="noStrike" dirty="0">
                          <a:effectLst/>
                        </a:rPr>
                        <a:t>α/δ </a:t>
                      </a:r>
                      <a:r>
                        <a:rPr lang="en-GB" sz="1100" b="0" u="none" strike="noStrike" dirty="0">
                          <a:effectLst/>
                        </a:rPr>
                        <a:t>agonist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00218135"/>
                  </a:ext>
                </a:extLst>
              </a:tr>
              <a:tr h="11810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Neuroscience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100" b="0" u="none" strike="noStrike" dirty="0">
                          <a:effectLst/>
                        </a:rPr>
                        <a:t>Corabotase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971142"/>
                  </a:ext>
                </a:extLst>
              </a:tr>
            </a:tbl>
          </a:graphicData>
        </a:graphic>
      </p:graphicFrame>
      <p:sp>
        <p:nvSpPr>
          <p:cNvPr id="15" name="Rectangle 14">
            <a:extLst>
              <a:ext uri="{FF2B5EF4-FFF2-40B4-BE49-F238E27FC236}">
                <a16:creationId xmlns:a16="http://schemas.microsoft.com/office/drawing/2014/main" id="{B37309D6-F235-4153-66C5-EABAD384377D}"/>
              </a:ext>
            </a:extLst>
          </p:cNvPr>
          <p:cNvSpPr/>
          <p:nvPr/>
        </p:nvSpPr>
        <p:spPr>
          <a:xfrm>
            <a:off x="526950" y="3711858"/>
            <a:ext cx="2900922" cy="45719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943AD7-58A9-9ECC-E9B3-78E67C6D31AD}"/>
              </a:ext>
            </a:extLst>
          </p:cNvPr>
          <p:cNvSpPr txBox="1"/>
          <p:nvPr/>
        </p:nvSpPr>
        <p:spPr>
          <a:xfrm>
            <a:off x="451104" y="3365385"/>
            <a:ext cx="11839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>
                <a:solidFill>
                  <a:srgbClr val="163B5A"/>
                </a:solidFill>
              </a:rPr>
              <a:t>Oncology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E78747F-ED8F-6803-3399-5D848F893357}"/>
              </a:ext>
            </a:extLst>
          </p:cNvPr>
          <p:cNvSpPr/>
          <p:nvPr/>
        </p:nvSpPr>
        <p:spPr>
          <a:xfrm>
            <a:off x="4697616" y="3711858"/>
            <a:ext cx="2900922" cy="45719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FC1522C-6AB8-3A42-FBC1-32A1AF43BE03}"/>
              </a:ext>
            </a:extLst>
          </p:cNvPr>
          <p:cNvSpPr txBox="1"/>
          <p:nvPr/>
        </p:nvSpPr>
        <p:spPr>
          <a:xfrm>
            <a:off x="4621770" y="3365385"/>
            <a:ext cx="1963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>
                <a:solidFill>
                  <a:srgbClr val="163B5A"/>
                </a:solidFill>
              </a:rPr>
              <a:t>PPAR </a:t>
            </a:r>
            <a:r>
              <a:rPr lang="el-GR" b="1" dirty="0">
                <a:solidFill>
                  <a:srgbClr val="163B5A"/>
                </a:solidFill>
              </a:rPr>
              <a:t>α/δ </a:t>
            </a:r>
            <a:r>
              <a:rPr lang="en-AU" b="1" dirty="0">
                <a:solidFill>
                  <a:srgbClr val="163B5A"/>
                </a:solidFill>
              </a:rPr>
              <a:t>agonist</a:t>
            </a:r>
          </a:p>
        </p:txBody>
      </p:sp>
    </p:spTree>
    <p:extLst>
      <p:ext uri="{BB962C8B-B14F-4D97-AF65-F5344CB8AC3E}">
        <p14:creationId xmlns:p14="http://schemas.microsoft.com/office/powerpoint/2010/main" val="1754002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BCF26-80AC-234E-0BED-26A22490A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CEC2526-88FD-82F7-C4E0-73C926E4FB4B}"/>
              </a:ext>
            </a:extLst>
          </p:cNvPr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12A6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E7F1192-4393-4E2A-AD9A-3F574188DCC9}"/>
              </a:ext>
            </a:extLst>
          </p:cNvPr>
          <p:cNvSpPr/>
          <p:nvPr/>
        </p:nvSpPr>
        <p:spPr>
          <a:xfrm rot="5400000">
            <a:off x="6113788" y="-5933787"/>
            <a:ext cx="144423" cy="12012000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0E8020-D4F2-CC3B-296C-DE37B8D8AD21}"/>
              </a:ext>
            </a:extLst>
          </p:cNvPr>
          <p:cNvCxnSpPr/>
          <p:nvPr/>
        </p:nvCxnSpPr>
        <p:spPr>
          <a:xfrm>
            <a:off x="451104" y="1024128"/>
            <a:ext cx="11289792" cy="0"/>
          </a:xfrm>
          <a:prstGeom prst="line">
            <a:avLst/>
          </a:prstGeom>
          <a:ln>
            <a:solidFill>
              <a:srgbClr val="D7E2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C91159C-0E3F-68F3-E436-4123F0CE4B11}"/>
              </a:ext>
            </a:extLst>
          </p:cNvPr>
          <p:cNvSpPr txBox="1"/>
          <p:nvPr/>
        </p:nvSpPr>
        <p:spPr>
          <a:xfrm>
            <a:off x="451104" y="269949"/>
            <a:ext cx="49663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2400" b="1" dirty="0">
                <a:solidFill>
                  <a:srgbClr val="0A7C88"/>
                </a:solidFill>
              </a:rPr>
              <a:t>Strategic Outlook &amp; Key Questions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8EFBC4-2DED-94D9-033C-5A2382695A80}"/>
              </a:ext>
            </a:extLst>
          </p:cNvPr>
          <p:cNvSpPr txBox="1"/>
          <p:nvPr/>
        </p:nvSpPr>
        <p:spPr>
          <a:xfrm>
            <a:off x="451104" y="716351"/>
            <a:ext cx="112897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400" dirty="0">
                <a:solidFill>
                  <a:srgbClr val="163B5A"/>
                </a:solidFill>
              </a:rPr>
              <a:t>XXXX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AE123F-031C-7811-3FD0-10386C31BEB2}"/>
              </a:ext>
            </a:extLst>
          </p:cNvPr>
          <p:cNvSpPr/>
          <p:nvPr/>
        </p:nvSpPr>
        <p:spPr>
          <a:xfrm>
            <a:off x="451104" y="1456816"/>
            <a:ext cx="2900922" cy="45719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81D67E-C21E-E07F-B745-20251C7E267C}"/>
              </a:ext>
            </a:extLst>
          </p:cNvPr>
          <p:cNvSpPr txBox="1"/>
          <p:nvPr/>
        </p:nvSpPr>
        <p:spPr>
          <a:xfrm>
            <a:off x="375258" y="1110343"/>
            <a:ext cx="1042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>
                <a:solidFill>
                  <a:srgbClr val="163B5A"/>
                </a:solidFill>
              </a:rPr>
              <a:t>Pipeline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3426194-103F-9B3B-01A2-A117D539C0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5648980"/>
              </p:ext>
            </p:extLst>
          </p:nvPr>
        </p:nvGraphicFramePr>
        <p:xfrm>
          <a:off x="451104" y="1697532"/>
          <a:ext cx="6604001" cy="2882617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895350">
                  <a:extLst>
                    <a:ext uri="{9D8B030D-6E8A-4147-A177-3AD203B41FA5}">
                      <a16:colId xmlns:a16="http://schemas.microsoft.com/office/drawing/2014/main" val="4200776620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3962167202"/>
                    </a:ext>
                  </a:extLst>
                </a:gridCol>
                <a:gridCol w="3068638">
                  <a:extLst>
                    <a:ext uri="{9D8B030D-6E8A-4147-A177-3AD203B41FA5}">
                      <a16:colId xmlns:a16="http://schemas.microsoft.com/office/drawing/2014/main" val="1114885578"/>
                    </a:ext>
                  </a:extLst>
                </a:gridCol>
                <a:gridCol w="819150">
                  <a:extLst>
                    <a:ext uri="{9D8B030D-6E8A-4147-A177-3AD203B41FA5}">
                      <a16:colId xmlns:a16="http://schemas.microsoft.com/office/drawing/2014/main" val="3793556308"/>
                    </a:ext>
                  </a:extLst>
                </a:gridCol>
                <a:gridCol w="563563">
                  <a:extLst>
                    <a:ext uri="{9D8B030D-6E8A-4147-A177-3AD203B41FA5}">
                      <a16:colId xmlns:a16="http://schemas.microsoft.com/office/drawing/2014/main" val="1441290671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FR" sz="1100" b="1" u="none" strike="noStrike">
                          <a:solidFill>
                            <a:srgbClr val="FFFFFF"/>
                          </a:solidFill>
                          <a:effectLst/>
                        </a:rPr>
                        <a:t>TA</a:t>
                      </a:r>
                      <a:endParaRPr lang="en-FR" sz="1100" b="1" i="0" u="none" strike="noStrike">
                        <a:solidFill>
                          <a:srgbClr val="FFFFFF"/>
                        </a:solidFill>
                        <a:effectLst/>
                        <a:latin typeface="Carlito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FR" sz="1100" b="1" u="none" strike="noStrike">
                          <a:solidFill>
                            <a:srgbClr val="FFFFFF"/>
                          </a:solidFill>
                          <a:effectLst/>
                        </a:rPr>
                        <a:t>Asset</a:t>
                      </a:r>
                      <a:endParaRPr lang="en-FR" sz="1100" b="1" i="0" u="none" strike="noStrike">
                        <a:solidFill>
                          <a:srgbClr val="FFFFFF"/>
                        </a:solidFill>
                        <a:effectLst/>
                        <a:latin typeface="Carlito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FR" sz="1100" b="1" u="none" strike="noStrike" dirty="0">
                          <a:solidFill>
                            <a:srgbClr val="FFFFFF"/>
                          </a:solidFill>
                          <a:effectLst/>
                        </a:rPr>
                        <a:t>Program / indication</a:t>
                      </a:r>
                      <a:endParaRPr lang="en-FR" sz="1100" b="1" i="0" u="none" strike="noStrike" dirty="0">
                        <a:solidFill>
                          <a:srgbClr val="FFFFFF"/>
                        </a:solidFill>
                        <a:effectLst/>
                        <a:latin typeface="Carlito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FR" sz="1100" b="1" i="0" u="none" strike="noStrike" dirty="0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Type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FR" sz="1100" b="1" u="none" strike="noStrike" dirty="0">
                          <a:solidFill>
                            <a:srgbClr val="FFFFFF"/>
                          </a:solidFill>
                          <a:effectLst/>
                        </a:rPr>
                        <a:t>Phase</a:t>
                      </a:r>
                      <a:endParaRPr lang="en-FR" sz="1100" b="1" i="0" u="none" strike="noStrike" dirty="0">
                        <a:solidFill>
                          <a:srgbClr val="FFFFFF"/>
                        </a:solidFill>
                        <a:effectLst/>
                        <a:latin typeface="Carlito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33554430"/>
                  </a:ext>
                </a:extLst>
              </a:tr>
              <a:tr h="2029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Oncology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Ojemda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FIREFLY-2: 1L pLGG (</a:t>
                      </a:r>
                      <a:r>
                        <a:rPr lang="en-GB" sz="1100" b="0" u="none" strike="noStrike" dirty="0">
                          <a:effectLst/>
                        </a:rPr>
                        <a:t>RAF inhibitor targeting BRAF) 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i="0" u="none" strike="noStrike" dirty="0">
                          <a:effectLst/>
                          <a:latin typeface="Carlito"/>
                        </a:rPr>
                        <a:t>SM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Phase III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56978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Oncology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IPN60340 / ICT01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1L AML (</a:t>
                      </a:r>
                      <a:r>
                        <a:rPr lang="en-GB" sz="1100" b="0" u="none" strike="noStrike" dirty="0">
                          <a:effectLst/>
                        </a:rPr>
                        <a:t>T-cell activator) </a:t>
                      </a:r>
                      <a:r>
                        <a:rPr lang="en-GB" sz="1100" b="1" u="none" strike="noStrike" dirty="0">
                          <a:solidFill>
                            <a:srgbClr val="163B5A"/>
                          </a:solidFill>
                          <a:effectLst/>
                        </a:rPr>
                        <a:t>– </a:t>
                      </a:r>
                      <a:r>
                        <a:rPr lang="en-GB" sz="1100" b="1" u="none" strike="noStrike" dirty="0" err="1">
                          <a:solidFill>
                            <a:srgbClr val="163B5A"/>
                          </a:solidFill>
                          <a:effectLst/>
                        </a:rPr>
                        <a:t>ImCheck</a:t>
                      </a:r>
                      <a:r>
                        <a:rPr lang="en-GB" sz="1100" b="1" u="none" strike="noStrike" dirty="0">
                          <a:solidFill>
                            <a:srgbClr val="163B5A"/>
                          </a:solidFill>
                          <a:effectLst/>
                        </a:rPr>
                        <a:t> Therapeutic</a:t>
                      </a:r>
                      <a:endParaRPr lang="en-FR" sz="1100" b="1" i="0" u="none" strike="noStrike" dirty="0">
                        <a:solidFill>
                          <a:srgbClr val="163B5A"/>
                        </a:solidFill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i="0" u="none" strike="noStrike" dirty="0">
                          <a:effectLst/>
                          <a:latin typeface="Carlito"/>
                        </a:rPr>
                        <a:t>mAb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Phase II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4684215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Oncology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IPN01195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100" b="0" u="none" strike="noStrike" dirty="0">
                          <a:effectLst/>
                        </a:rPr>
                        <a:t>Solid tumors (RAFi)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i="0" u="none" strike="noStrike" dirty="0">
                          <a:effectLst/>
                          <a:latin typeface="Carlito"/>
                        </a:rPr>
                        <a:t>SM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Phase I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142621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Oncology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IPN60300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Solid tumors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i="0" u="none" strike="noStrike" dirty="0">
                          <a:effectLst/>
                          <a:latin typeface="Carlito"/>
                        </a:rPr>
                        <a:t>ADC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Phase I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9614496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Oncology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IPN01203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Solid tumors (</a:t>
                      </a:r>
                      <a:r>
                        <a:rPr lang="en-GB" sz="1100" b="0" u="none" strike="noStrike" dirty="0">
                          <a:effectLst/>
                        </a:rPr>
                        <a:t>T-cell activator)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i="0" u="none" strike="noStrike" dirty="0">
                          <a:effectLst/>
                          <a:latin typeface="Carlito"/>
                        </a:rPr>
                        <a:t>Biologics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Phase I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2891939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Rare Disease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Iqirvo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ELSPIRE: PBC (</a:t>
                      </a:r>
                      <a:r>
                        <a:rPr lang="en-GB" sz="1100" b="0" u="none" strike="noStrike" dirty="0">
                          <a:effectLst/>
                        </a:rPr>
                        <a:t>PPAR </a:t>
                      </a:r>
                      <a:r>
                        <a:rPr lang="el-GR" sz="1100" b="0" u="none" strike="noStrike" dirty="0">
                          <a:effectLst/>
                        </a:rPr>
                        <a:t>α/δ </a:t>
                      </a:r>
                      <a:r>
                        <a:rPr lang="en-GB" sz="1100" b="0" u="none" strike="noStrike" dirty="0">
                          <a:effectLst/>
                        </a:rPr>
                        <a:t>agonist</a:t>
                      </a:r>
                      <a:r>
                        <a:rPr lang="en-FR" sz="1100" b="0" u="none" strike="noStrike" dirty="0">
                          <a:effectLst/>
                        </a:rPr>
                        <a:t>)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i="0" u="none" strike="noStrike" dirty="0">
                          <a:effectLst/>
                          <a:latin typeface="Carlito"/>
                        </a:rPr>
                        <a:t>SM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Phase III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253253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Rare Disease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Elafibranor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ELASCOPe: PSC (</a:t>
                      </a:r>
                      <a:r>
                        <a:rPr lang="en-GB" sz="1100" b="0" u="none" strike="noStrike" dirty="0">
                          <a:effectLst/>
                        </a:rPr>
                        <a:t>PPAR </a:t>
                      </a:r>
                      <a:r>
                        <a:rPr lang="el-GR" sz="1100" b="0" u="none" strike="noStrike" dirty="0">
                          <a:effectLst/>
                        </a:rPr>
                        <a:t>α/δ </a:t>
                      </a:r>
                      <a:r>
                        <a:rPr lang="en-GB" sz="1100" b="0" u="none" strike="noStrike" dirty="0">
                          <a:effectLst/>
                        </a:rPr>
                        <a:t>agonist</a:t>
                      </a:r>
                      <a:r>
                        <a:rPr lang="en-FR" sz="1100" b="0" u="none" strike="noStrike" dirty="0">
                          <a:effectLst/>
                        </a:rPr>
                        <a:t>)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i="0" u="none" strike="noStrike" dirty="0">
                          <a:effectLst/>
                          <a:latin typeface="Carlito"/>
                        </a:rPr>
                        <a:t>SM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Phase III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6058213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Rare Disease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Bylvay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100" b="0" u="none" strike="noStrike" dirty="0">
                          <a:effectLst/>
                        </a:rPr>
                        <a:t>BOLD: biliary atresia (IBAT inhibitor</a:t>
                      </a:r>
                      <a:r>
                        <a:rPr lang="en-FR" sz="1100" b="0" i="0" u="none" strike="noStrike" dirty="0">
                          <a:effectLst/>
                          <a:latin typeface="Carlito"/>
                        </a:rPr>
                        <a:t>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i="0" u="none" strike="noStrike" dirty="0">
                          <a:effectLst/>
                          <a:latin typeface="Carlito"/>
                        </a:rPr>
                        <a:t>SM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Phase III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01662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Neuroscience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Dysport </a:t>
                      </a:r>
                      <a:r>
                        <a:rPr lang="en-FR" sz="1100" b="0" i="1" u="none" strike="noStrike" dirty="0">
                          <a:effectLst/>
                        </a:rPr>
                        <a:t>(expansion)</a:t>
                      </a:r>
                      <a:endParaRPr lang="en-FR" sz="1100" b="0" i="1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C/E-BEOND: chronic &amp; episodic migraine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100" b="0" i="0" u="none" strike="noStrike" dirty="0">
                          <a:effectLst/>
                          <a:latin typeface="Carlito"/>
                        </a:rPr>
                        <a:t>Biologics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Phase III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734273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Neuroscience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Corabotase (FiC)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LAURITE 1 &amp; 2: glabellar lines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i="0" u="none" strike="noStrike" dirty="0">
                          <a:effectLst/>
                          <a:latin typeface="Carlito"/>
                        </a:rPr>
                        <a:t>Recomb. Prot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Phase III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047845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Neuroscience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100" b="0" u="none" strike="noStrike" dirty="0">
                          <a:effectLst/>
                        </a:rPr>
                        <a:t>Corabotase (FiC)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LANTIC: glabellar, forehead &amp; lateral canthal lines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100" b="0" i="0" u="none" strike="noStrike" dirty="0">
                          <a:effectLst/>
                          <a:latin typeface="Carlito"/>
                        </a:rPr>
                        <a:t>Recomb. Prot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Phase II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2222604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Neuroscience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100" b="0" u="none" strike="noStrike" dirty="0">
                          <a:effectLst/>
                        </a:rPr>
                        <a:t>Corabotase (FiC)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LANTIMA: adult upper-limb spasticity (Tx)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100" b="0" i="0" u="none" strike="noStrike" dirty="0">
                          <a:effectLst/>
                          <a:latin typeface="Carlito"/>
                        </a:rPr>
                        <a:t>Recomb. Prot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Phase II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3442977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Neuroscience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100" b="0" u="none" strike="noStrike" dirty="0">
                          <a:effectLst/>
                        </a:rPr>
                        <a:t>Corabotase (FiC)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MERANTI: migraine (Tx)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100" b="0" i="0" u="none" strike="noStrike" dirty="0">
                          <a:effectLst/>
                          <a:latin typeface="Carlito"/>
                        </a:rPr>
                        <a:t>Recomb. Prot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Phase II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97114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>
                          <a:effectLst/>
                        </a:rPr>
                        <a:t>Neuroscience</a:t>
                      </a:r>
                      <a:endParaRPr lang="en-FR" sz="1100" b="0" i="0" u="none" strike="noStrike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100" b="0" u="none" strike="noStrike" dirty="0">
                          <a:effectLst/>
                        </a:rPr>
                        <a:t>Corabotase (FiC)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CATALPA: cervical dystonia (Tx)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FR" sz="1100" b="0" i="0" u="none" strike="noStrike" dirty="0">
                          <a:effectLst/>
                          <a:latin typeface="Carlito"/>
                        </a:rPr>
                        <a:t>Recomb. Prot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FR" sz="1100" b="0" u="none" strike="noStrike" dirty="0">
                          <a:effectLst/>
                        </a:rPr>
                        <a:t>Phase II</a:t>
                      </a:r>
                      <a:endParaRPr lang="en-FR" sz="1100" b="0" i="0" u="none" strike="noStrike" dirty="0">
                        <a:effectLst/>
                        <a:latin typeface="Carlito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1934021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A26E004F-388A-17C6-74A1-C2BA97F5D1ED}"/>
              </a:ext>
            </a:extLst>
          </p:cNvPr>
          <p:cNvSpPr/>
          <p:nvPr/>
        </p:nvSpPr>
        <p:spPr>
          <a:xfrm>
            <a:off x="7292715" y="1456816"/>
            <a:ext cx="2900922" cy="45719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F3B326-8B6A-B43C-81BD-EDA44027FD6A}"/>
              </a:ext>
            </a:extLst>
          </p:cNvPr>
          <p:cNvSpPr txBox="1"/>
          <p:nvPr/>
        </p:nvSpPr>
        <p:spPr>
          <a:xfrm>
            <a:off x="7216869" y="1110343"/>
            <a:ext cx="48899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>
                <a:solidFill>
                  <a:srgbClr val="163B5A"/>
                </a:solidFill>
              </a:rPr>
              <a:t>M&amp;A / Divestments / Partnerships / Licensing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C1399A-7403-EF60-98D3-0C73ECA8A1A8}"/>
              </a:ext>
            </a:extLst>
          </p:cNvPr>
          <p:cNvSpPr txBox="1"/>
          <p:nvPr/>
        </p:nvSpPr>
        <p:spPr>
          <a:xfrm>
            <a:off x="7292715" y="1533161"/>
            <a:ext cx="481408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M&amp;A / divestments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 err="1"/>
              <a:t>ImCheck</a:t>
            </a:r>
            <a:r>
              <a:rPr lang="en-US" sz="1200" dirty="0"/>
              <a:t> Therapeutics acquisition: ICT01, anti-BTN3A </a:t>
            </a:r>
            <a:r>
              <a:rPr lang="en-US" sz="1200" dirty="0" err="1"/>
              <a:t>mAb</a:t>
            </a:r>
            <a:r>
              <a:rPr lang="en-US" sz="1200" dirty="0"/>
              <a:t>, γ9δ2 T-cell activation in 1L unfit AML (2025)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 err="1"/>
              <a:t>Simcere</a:t>
            </a:r>
            <a:r>
              <a:rPr lang="en-US" sz="1200" dirty="0"/>
              <a:t> </a:t>
            </a:r>
            <a:r>
              <a:rPr lang="en-US" sz="1200" dirty="0" err="1"/>
              <a:t>Zaiming</a:t>
            </a:r>
            <a:r>
              <a:rPr lang="en-US" sz="1200" dirty="0"/>
              <a:t> license-in: SIM0613, LRRC15-targeting ADC, solid tumors (2025)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Consumer HealthCare divestment to </a:t>
            </a:r>
            <a:r>
              <a:rPr lang="en-US" sz="1200" dirty="0" err="1"/>
              <a:t>Mayoly</a:t>
            </a:r>
            <a:r>
              <a:rPr lang="en-US" sz="1200" dirty="0"/>
              <a:t> Spindler: full refocus on Specialty Care (2022)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200" b="1" dirty="0"/>
              <a:t>Partnerships / licensing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Day One Biopharmaceuticals (</a:t>
            </a:r>
            <a:r>
              <a:rPr lang="en-US" sz="1200" dirty="0" err="1"/>
              <a:t>tovorafenib</a:t>
            </a:r>
            <a:r>
              <a:rPr lang="en-US" sz="1200" dirty="0"/>
              <a:t> / </a:t>
            </a:r>
            <a:r>
              <a:rPr lang="en-US" sz="1200" dirty="0" err="1"/>
              <a:t>Ojemda</a:t>
            </a:r>
            <a:r>
              <a:rPr lang="en-US" sz="1200" dirty="0"/>
              <a:t>, pediatric low-grade glioma) (2024)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Sutro Biopharma: license ROR1-targeting ADC, solid tumors. (2024)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200" dirty="0"/>
              <a:t>Foreseen Biotechnology: license, first-in-class ADC, solid tumor. (2024)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0A8C9D-3489-78B1-A674-4818730DBD1B}"/>
              </a:ext>
            </a:extLst>
          </p:cNvPr>
          <p:cNvSpPr/>
          <p:nvPr/>
        </p:nvSpPr>
        <p:spPr>
          <a:xfrm>
            <a:off x="451104" y="5121619"/>
            <a:ext cx="2900922" cy="45719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7C909B-1E11-0E16-D846-AED071EC5975}"/>
              </a:ext>
            </a:extLst>
          </p:cNvPr>
          <p:cNvSpPr txBox="1"/>
          <p:nvPr/>
        </p:nvSpPr>
        <p:spPr>
          <a:xfrm>
            <a:off x="375258" y="4775146"/>
            <a:ext cx="2115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>
                <a:solidFill>
                  <a:srgbClr val="163B5A"/>
                </a:solidFill>
              </a:rPr>
              <a:t>Strategic direction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7F4CE8E-138D-CE11-BEDF-A29113930B5B}"/>
              </a:ext>
            </a:extLst>
          </p:cNvPr>
          <p:cNvSpPr/>
          <p:nvPr/>
        </p:nvSpPr>
        <p:spPr>
          <a:xfrm>
            <a:off x="7649776" y="4821943"/>
            <a:ext cx="2900922" cy="45719"/>
          </a:xfrm>
          <a:prstGeom prst="rect">
            <a:avLst/>
          </a:prstGeom>
          <a:solidFill>
            <a:srgbClr val="163B5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0CDFEB-05A0-99C5-2C6D-BE782D9C4E8D}"/>
              </a:ext>
            </a:extLst>
          </p:cNvPr>
          <p:cNvSpPr txBox="1"/>
          <p:nvPr/>
        </p:nvSpPr>
        <p:spPr>
          <a:xfrm>
            <a:off x="7573930" y="4475470"/>
            <a:ext cx="232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>
                <a:solidFill>
                  <a:srgbClr val="163B5A"/>
                </a:solidFill>
              </a:rPr>
              <a:t>Key questions to ask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801670D-671A-2DCD-B1B0-256EF8F004DB}"/>
              </a:ext>
            </a:extLst>
          </p:cNvPr>
          <p:cNvSpPr txBox="1"/>
          <p:nvPr/>
        </p:nvSpPr>
        <p:spPr>
          <a:xfrm>
            <a:off x="451104" y="5167338"/>
            <a:ext cx="66040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 err="1"/>
              <a:t>Portefeuil</a:t>
            </a:r>
            <a:r>
              <a:rPr lang="en-US" sz="1200" b="1" dirty="0"/>
              <a:t> </a:t>
            </a:r>
            <a:r>
              <a:rPr lang="en-US" sz="1200" b="1" dirty="0" err="1"/>
              <a:t>devient</a:t>
            </a:r>
            <a:r>
              <a:rPr lang="en-US" sz="1200" b="1" dirty="0"/>
              <a:t> très </a:t>
            </a:r>
            <a:r>
              <a:rPr lang="en-US" sz="1200" b="1" dirty="0" err="1"/>
              <a:t>diversifié</a:t>
            </a:r>
            <a:endParaRPr lang="en-US" sz="1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/>
              <a:t>Clear post-2020 external-innovation reset: </a:t>
            </a:r>
            <a:r>
              <a:rPr lang="en-US" sz="1200" dirty="0"/>
              <a:t>30 best-/first-in-class programs brought into the pipeline since 2020.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/>
              <a:t>2024-2025 shift toward early oncology modalities </a:t>
            </a:r>
            <a:r>
              <a:rPr lang="en-US" sz="1200" dirty="0"/>
              <a:t>(ADCs, T-cell engagers, </a:t>
            </a:r>
            <a:r>
              <a:rPr lang="en-US" sz="1200" dirty="0" err="1"/>
              <a:t>γδ</a:t>
            </a:r>
            <a:r>
              <a:rPr lang="en-US" sz="1200" dirty="0"/>
              <a:t> T-cell activation, MAPK pathway assets)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7E2389-67D0-9DBE-F994-A7F3C3D455DA}"/>
              </a:ext>
            </a:extLst>
          </p:cNvPr>
          <p:cNvSpPr txBox="1"/>
          <p:nvPr/>
        </p:nvSpPr>
        <p:spPr>
          <a:xfrm>
            <a:off x="7573930" y="4932382"/>
            <a:ext cx="4448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200" b="1" dirty="0"/>
              <a:t>Reprends </a:t>
            </a:r>
            <a:endParaRPr lang="en-AU" sz="1200" dirty="0"/>
          </a:p>
        </p:txBody>
      </p:sp>
    </p:spTree>
    <p:extLst>
      <p:ext uri="{BB962C8B-B14F-4D97-AF65-F5344CB8AC3E}">
        <p14:creationId xmlns:p14="http://schemas.microsoft.com/office/powerpoint/2010/main" val="4202146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489</TotalTime>
  <Words>942</Words>
  <Application>Microsoft Macintosh PowerPoint</Application>
  <PresentationFormat>Widescreen</PresentationFormat>
  <Paragraphs>285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Carlito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Benoit NEITTHOFFER</dc:creator>
  <cp:lastModifiedBy>Benoit NEITTHOFFER</cp:lastModifiedBy>
  <cp:revision>7</cp:revision>
  <dcterms:created xsi:type="dcterms:W3CDTF">2026-04-29T14:19:05Z</dcterms:created>
  <dcterms:modified xsi:type="dcterms:W3CDTF">2026-05-28T11:16:12Z</dcterms:modified>
</cp:coreProperties>
</file>