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9" r:id="rId3"/>
    <p:sldId id="258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B5A"/>
    <a:srgbClr val="3CCBFF"/>
    <a:srgbClr val="34ADDE"/>
    <a:srgbClr val="2A7FA0"/>
    <a:srgbClr val="5C6B78"/>
    <a:srgbClr val="D7E2E6"/>
    <a:srgbClr val="F4F9FA"/>
    <a:srgbClr val="0A7C88"/>
    <a:srgbClr val="12A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1"/>
    <p:restoredTop sz="94751"/>
  </p:normalViewPr>
  <p:slideViewPr>
    <p:cSldViewPr snapToGrid="0">
      <p:cViewPr>
        <p:scale>
          <a:sx n="76" d="100"/>
          <a:sy n="76" d="100"/>
        </p:scale>
        <p:origin x="2344" y="1128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3A01-D59A-427F-6B4A-4735D6F70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CCCD6-B209-D382-72FD-9DACAF30E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92660-5B55-CA62-B8F8-BCB0E1B9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17334-E733-65CA-622E-88C156AF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AFDB5-1B99-4D3D-3D45-E088532E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924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1026-9C88-08ED-30D4-30622782D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90C3-88DC-C033-69CA-9573B135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271A-FA97-526F-4EE4-6F90E4F9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60C0A-BFE4-706B-42C2-D616A225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910C0-C5D5-662C-1F09-EDE66FF4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58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1641-F923-E38B-C0B7-B004DECE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8115B-AE24-7B69-E63D-C40736631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11F69-E2EE-5EB1-EC29-3F0F7CCE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AC7D-2B75-FE9C-98A6-73EF60DA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C0C9E-F4BF-C068-BA6E-95589DBD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85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74E9-4A2D-91E0-84B6-6E1480AE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0BE4-14DF-0392-C64D-089C1B3F0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0C220-2E8C-8DA3-6349-A60072BD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21AF-462B-4220-D9F5-6AD63534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4DE30-0556-E9A8-A4F3-693F52C1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FE48D-BCEB-348E-CC03-90CEE9B14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37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4524-1522-66AC-4916-B88726E0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33816-E391-6C62-E5B6-1B2CB82C6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2B679-B96D-F063-A507-DEC5FB77D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E70EB-63C4-174F-4160-46E6BE45B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2E5AA-CE03-C136-8947-60F76E5DA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AC947-CC51-011C-B871-6E49378E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06243-7C56-FB06-28AA-DEA59DAB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9EC0B-7692-7A8F-98B6-C20637D9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51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1259-A583-1FAE-0894-7875D3F4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6B801-C5BB-28DE-84A7-C9AF8003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63F40-2C7C-57CC-E856-D52A290B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B7E4D-4C1B-E9E8-779C-98C9874E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3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29963-6848-A67E-B0E8-11DF7E98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58598-B929-131B-992A-736C2F8C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36F21-F686-D50C-15E7-73C7D254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269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012E-F397-A1AE-4AF4-BD010F20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C8FB-0B5A-B6A0-AA41-0CC4142D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63244-18CB-6115-5229-C86594C4C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F970C-498A-638D-70A3-9CA91D7F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4326B-0186-614C-BA55-565B6BA4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35F11-0975-0603-CA38-BF65AB0E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85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CD5B-3593-A6E0-C7DD-ED938C4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C204E-D3B2-301A-178B-290B96466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F0B4D-F074-C238-741D-CF3B1798E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AB9E8-4D72-BB3D-B630-7330294E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AA87D-C6FD-BEF8-415B-FDD16828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2853E-C514-5773-277E-6F567052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8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A49D-49CC-2E46-FBE1-CE00CAE0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5E80D-D1DB-5F0B-3EAC-AB050B860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23CE-A7A6-EF6E-A6E8-16ABEF72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B3640-270F-E387-0F93-9A924BC9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C334-F8CE-C3BA-B236-562ADD6E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42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A5ABB-AC2C-4821-6714-2A4222F7D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D8A6A-647A-B0CD-A3EC-42B2B9BDD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0748-2070-7C1E-00ED-755ED365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4C116-3F32-9001-159B-EEC78DEC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C46B2-246F-0E7C-584E-23336F8B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30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9BF1B-0CBE-BC45-A376-80DB52B4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8DEE1-FF97-A5BF-329B-3D053BA65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2AA71-1154-B1CC-F3A2-7098795E4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D0860-531C-6841-B6C8-FF980A9B01E5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D69EC-00D5-4D8F-4732-C9C8E51A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D548-9C18-468B-1261-6EB3C4309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6E1AE-F269-0B4E-9CF4-75D29719C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13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DA62-9881-E1D1-3ED2-C42C5FF6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D8D4E9-C048-E1D8-FE8A-213493937A0F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A2D66-B531-D970-88BC-38A25F159ACB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D04FF0-D827-5C2D-8A79-A0B8D2CAC0E0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9570B6-36FD-75E5-163E-8CC228C00C3C}"/>
              </a:ext>
            </a:extLst>
          </p:cNvPr>
          <p:cNvSpPr txBox="1"/>
          <p:nvPr/>
        </p:nvSpPr>
        <p:spPr>
          <a:xfrm>
            <a:off x="451104" y="269949"/>
            <a:ext cx="2411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IPSEN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23A3C-98AE-416B-499A-DC2CBB8B4C95}"/>
              </a:ext>
            </a:extLst>
          </p:cNvPr>
          <p:cNvSpPr txBox="1"/>
          <p:nvPr/>
        </p:nvSpPr>
        <p:spPr>
          <a:xfrm>
            <a:off x="451104" y="722589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163B5A"/>
                </a:solidFill>
              </a:rPr>
              <a:t>Oncology is the group cash cow, drives revenue while </a:t>
            </a:r>
            <a:r>
              <a:rPr lang="en-AU" sz="1400" dirty="0" err="1">
                <a:solidFill>
                  <a:srgbClr val="163B5A"/>
                </a:solidFill>
              </a:rPr>
              <a:t>fueling</a:t>
            </a:r>
            <a:r>
              <a:rPr lang="en-AU" sz="1400" dirty="0">
                <a:solidFill>
                  <a:srgbClr val="163B5A"/>
                </a:solidFill>
              </a:rPr>
              <a:t> the emergence of neuroscience and rare disease products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6C4126-7DAE-C596-61D0-7A2031D3C242}"/>
              </a:ext>
            </a:extLst>
          </p:cNvPr>
          <p:cNvSpPr/>
          <p:nvPr/>
        </p:nvSpPr>
        <p:spPr>
          <a:xfrm>
            <a:off x="451104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EEF5D-72B3-2F23-234E-E74608B94028}"/>
              </a:ext>
            </a:extLst>
          </p:cNvPr>
          <p:cNvSpPr txBox="1"/>
          <p:nvPr/>
        </p:nvSpPr>
        <p:spPr>
          <a:xfrm>
            <a:off x="375258" y="1110343"/>
            <a:ext cx="1012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General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D04CA2-1FC8-C925-78EB-57F2CA44F519}"/>
              </a:ext>
            </a:extLst>
          </p:cNvPr>
          <p:cNvSpPr txBox="1"/>
          <p:nvPr/>
        </p:nvSpPr>
        <p:spPr>
          <a:xfrm>
            <a:off x="451104" y="1534679"/>
            <a:ext cx="55054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Founded:</a:t>
            </a:r>
            <a:r>
              <a:rPr lang="en-FR" sz="1200" dirty="0"/>
              <a:t> 1929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Main therapeutic areas:</a:t>
            </a:r>
            <a:r>
              <a:rPr lang="en-FR" sz="1200" dirty="0"/>
              <a:t> Oncology, Neurosciences, Rare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Commercial footprint:</a:t>
            </a:r>
            <a:r>
              <a:rPr lang="en-FR" sz="1200" dirty="0"/>
              <a:t> 88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Employees:</a:t>
            </a:r>
            <a:r>
              <a:rPr lang="en-FR" sz="1200" dirty="0"/>
              <a:t> 5,300+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2025 revenue:</a:t>
            </a:r>
            <a:r>
              <a:rPr lang="en-FR" sz="1200" dirty="0"/>
              <a:t> €3.68bn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Controlling shareholder</a:t>
            </a:r>
            <a:r>
              <a:rPr lang="en-GB" sz="1200" dirty="0"/>
              <a:t>: </a:t>
            </a:r>
            <a:r>
              <a:rPr lang="en-GB" sz="1200" dirty="0" err="1"/>
              <a:t>Beaufour</a:t>
            </a:r>
            <a:r>
              <a:rPr lang="en-GB" sz="1200" dirty="0"/>
              <a:t> family (~57% via </a:t>
            </a:r>
            <a:r>
              <a:rPr lang="en-GB" sz="1200" dirty="0" err="1"/>
              <a:t>Mayroy</a:t>
            </a:r>
            <a:r>
              <a:rPr lang="en-GB" sz="1200" dirty="0"/>
              <a:t>)</a:t>
            </a: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R" sz="1200" b="1" dirty="0"/>
              <a:t>Geography sales 2025</a:t>
            </a:r>
            <a:r>
              <a:rPr lang="en-FR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Europe</a:t>
            </a:r>
            <a:r>
              <a:rPr lang="en-FR" sz="1200" dirty="0"/>
              <a:t>: 39.7% Rev (€1.46bn, +15.4% 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North America</a:t>
            </a:r>
            <a:r>
              <a:rPr lang="en-FR" sz="1200" dirty="0"/>
              <a:t>: 35.1% Rev (€1.29bn, + 9.3% 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b="1" dirty="0"/>
              <a:t>RoW</a:t>
            </a:r>
            <a:r>
              <a:rPr lang="en-FR" sz="1200" dirty="0"/>
              <a:t>: 25.2% Rev (€0.92bn, +7.5% 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Financial highlights: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Net cash position: +€560M (FY25): strong bolt-on M&amp;A firepower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R&amp;D/Rev at 20%: </a:t>
            </a:r>
            <a:r>
              <a:rPr lang="en-GB" sz="1200" dirty="0"/>
              <a:t>rising, funding diversification pipeline</a:t>
            </a:r>
            <a:endParaRPr lang="en-F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11pt of GM increase: increase revenue quicker than COGS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200" dirty="0"/>
              <a:t>FCF at 1b (FY25), vs. 0.77 FY24 driven by </a:t>
            </a:r>
            <a:r>
              <a:rPr lang="en-GB" sz="1200" dirty="0"/>
              <a:t>EBITDA growth + lower capex</a:t>
            </a:r>
            <a:endParaRPr lang="en-FR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9026E1-A114-8151-AFF3-1944256D33DF}"/>
              </a:ext>
            </a:extLst>
          </p:cNvPr>
          <p:cNvSpPr txBox="1"/>
          <p:nvPr/>
        </p:nvSpPr>
        <p:spPr>
          <a:xfrm>
            <a:off x="13102814" y="5690795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FB4F1D-D669-820F-AAD3-9EA521734204}"/>
              </a:ext>
            </a:extLst>
          </p:cNvPr>
          <p:cNvSpPr/>
          <p:nvPr/>
        </p:nvSpPr>
        <p:spPr>
          <a:xfrm>
            <a:off x="7195832" y="1456815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7CF5D-FC29-C10E-C021-266AF4185216}"/>
              </a:ext>
            </a:extLst>
          </p:cNvPr>
          <p:cNvSpPr txBox="1"/>
          <p:nvPr/>
        </p:nvSpPr>
        <p:spPr>
          <a:xfrm>
            <a:off x="7119986" y="1110342"/>
            <a:ext cx="1265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Financials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17541D-9BD0-84AD-9E65-B086AB81EBE4}"/>
              </a:ext>
            </a:extLst>
          </p:cNvPr>
          <p:cNvSpPr/>
          <p:nvPr/>
        </p:nvSpPr>
        <p:spPr>
          <a:xfrm>
            <a:off x="526950" y="4992464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DED1A-656E-6D6F-51B5-300E00593975}"/>
              </a:ext>
            </a:extLst>
          </p:cNvPr>
          <p:cNvSpPr txBox="1"/>
          <p:nvPr/>
        </p:nvSpPr>
        <p:spPr>
          <a:xfrm>
            <a:off x="451104" y="4645991"/>
            <a:ext cx="113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Products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7B3506C-0F33-28FE-E301-8AD5E5D6D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234100"/>
              </p:ext>
            </p:extLst>
          </p:nvPr>
        </p:nvGraphicFramePr>
        <p:xfrm>
          <a:off x="526950" y="5166831"/>
          <a:ext cx="9898900" cy="1582479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48058">
                  <a:extLst>
                    <a:ext uri="{9D8B030D-6E8A-4147-A177-3AD203B41FA5}">
                      <a16:colId xmlns:a16="http://schemas.microsoft.com/office/drawing/2014/main" val="1755445364"/>
                    </a:ext>
                  </a:extLst>
                </a:gridCol>
                <a:gridCol w="1174595">
                  <a:extLst>
                    <a:ext uri="{9D8B030D-6E8A-4147-A177-3AD203B41FA5}">
                      <a16:colId xmlns:a16="http://schemas.microsoft.com/office/drawing/2014/main" val="1116672927"/>
                    </a:ext>
                  </a:extLst>
                </a:gridCol>
                <a:gridCol w="1865971">
                  <a:extLst>
                    <a:ext uri="{9D8B030D-6E8A-4147-A177-3AD203B41FA5}">
                      <a16:colId xmlns:a16="http://schemas.microsoft.com/office/drawing/2014/main" val="356679497"/>
                    </a:ext>
                  </a:extLst>
                </a:gridCol>
                <a:gridCol w="3113088">
                  <a:extLst>
                    <a:ext uri="{9D8B030D-6E8A-4147-A177-3AD203B41FA5}">
                      <a16:colId xmlns:a16="http://schemas.microsoft.com/office/drawing/2014/main" val="853823028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4258530580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4174490988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1289759013"/>
                    </a:ext>
                  </a:extLst>
                </a:gridCol>
              </a:tblGrid>
              <a:tr h="2599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Product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TA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Indication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 2025 (€M)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  <a:endParaRPr lang="en-FR" sz="1000" b="1" i="0" u="none" strike="noStrike" dirty="0">
                        <a:solidFill>
                          <a:schemeClr val="bg1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rlito"/>
                        </a:rPr>
                        <a:t>LOE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6744846"/>
                  </a:ext>
                </a:extLst>
              </a:tr>
              <a:tr h="176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Somatuline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Oncology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Somatostatin </a:t>
                      </a:r>
                      <a:r>
                        <a:rPr lang="en-GB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analog</a:t>
                      </a: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(SSA)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(neuroendocrine </a:t>
                      </a:r>
                      <a:r>
                        <a:rPr lang="en-GB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tumors</a:t>
                      </a: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+ acromegaly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1 135 (+4.3%)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Expired (2015)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3734328"/>
                  </a:ext>
                </a:extLst>
              </a:tr>
              <a:tr h="176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Cabometyx*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Oncology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Multi-TKI (VEGFR/MET/AXL)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RCC + HCC + thyroid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613 (+5.1%)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3314011"/>
                  </a:ext>
                </a:extLst>
              </a:tr>
              <a:tr h="176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Decapeptyl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Oncology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GnRH agonist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Prostate cancer + endometriosis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543 (+2.7%)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Expired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1744614"/>
                  </a:ext>
                </a:extLst>
              </a:tr>
              <a:tr h="176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Onivyde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Oncology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Topoisomerase I inhibitor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Pancreatic (PDAC)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207 (+6.2%)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2811013"/>
                  </a:ext>
                </a:extLst>
              </a:tr>
              <a:tr h="2057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Iqirvo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Rare Diseases</a:t>
                      </a:r>
                      <a:endParaRPr lang="en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PPAR</a:t>
                      </a:r>
                      <a:r>
                        <a:rPr lang="el-G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α/δ </a:t>
                      </a: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agonist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PBC (primary biliary cholangitis).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184 (launched)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6977273"/>
                  </a:ext>
                </a:extLst>
              </a:tr>
              <a:tr h="2057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Bylvay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Rare Diseases</a:t>
                      </a:r>
                      <a:endParaRPr lang="en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IBAT inhibitor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Cholestatic liver (PFIC, biliary atresia).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180 (+36.3%)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480271"/>
                  </a:ext>
                </a:extLst>
              </a:tr>
              <a:tr h="2057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Dysport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Neurosciences</a:t>
                      </a:r>
                      <a:endParaRPr lang="en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Botulinum toxin type A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Aesthetic + therapeutic (spasticity, dystonia, migraine).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   734 (+9.7%) 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Biologics</a:t>
                      </a:r>
                      <a:endParaRPr lang="en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03231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B511885-8AE0-FED9-A7E9-501D95EA1887}"/>
              </a:ext>
            </a:extLst>
          </p:cNvPr>
          <p:cNvSpPr txBox="1"/>
          <p:nvPr/>
        </p:nvSpPr>
        <p:spPr>
          <a:xfrm>
            <a:off x="10452312" y="6564260"/>
            <a:ext cx="16546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i="1" dirty="0"/>
              <a:t>* Licensed from Exelixis.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D2AE335-BDCB-0B19-F649-B0F7F9CBA2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455282"/>
              </p:ext>
            </p:extLst>
          </p:nvPr>
        </p:nvGraphicFramePr>
        <p:xfrm>
          <a:off x="7195832" y="1605188"/>
          <a:ext cx="4469218" cy="3407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13400" imgH="4279900" progId="Excel.Sheet.12">
                  <p:embed/>
                </p:oleObj>
              </mc:Choice>
              <mc:Fallback>
                <p:oleObj name="Worksheet" r:id="rId2" imgW="5613400" imgH="4279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95832" y="1605188"/>
                        <a:ext cx="4469218" cy="3407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98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59CB-6B9B-1D93-F333-21890B19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07CEFD-77F8-7C0E-E7E7-597A1250BC0E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542B0-C73B-8789-6A5D-ED5EA0330E7F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387E16-F46A-D91B-F9C2-BB873034C657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D9E3B2-8917-F90B-28DC-ACACD708ACBD}"/>
              </a:ext>
            </a:extLst>
          </p:cNvPr>
          <p:cNvSpPr txBox="1"/>
          <p:nvPr/>
        </p:nvSpPr>
        <p:spPr>
          <a:xfrm>
            <a:off x="451104" y="269949"/>
            <a:ext cx="5546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Key Markets &amp; Competitive Landscape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3FB21-C863-6D93-9C5D-DC58F4E2CA8E}"/>
              </a:ext>
            </a:extLst>
          </p:cNvPr>
          <p:cNvSpPr txBox="1"/>
          <p:nvPr/>
        </p:nvSpPr>
        <p:spPr>
          <a:xfrm>
            <a:off x="451104" y="716351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163B5A"/>
                </a:solidFill>
              </a:rPr>
              <a:t>Three markets behind 68% of revenue, all facing early competitive or patent pressure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0A729-A476-3ADB-A2A7-82EFA36482DF}"/>
              </a:ext>
            </a:extLst>
          </p:cNvPr>
          <p:cNvSpPr txBox="1"/>
          <p:nvPr/>
        </p:nvSpPr>
        <p:spPr>
          <a:xfrm>
            <a:off x="451103" y="1154740"/>
            <a:ext cx="11289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163B5A"/>
                </a:solidFill>
              </a:rPr>
              <a:t>Focus rationale</a:t>
            </a:r>
            <a:r>
              <a:rPr lang="en-GB" sz="1600" dirty="0"/>
              <a:t>: We </a:t>
            </a:r>
            <a:r>
              <a:rPr lang="en-GB" sz="1600" dirty="0" err="1"/>
              <a:t>analyze</a:t>
            </a:r>
            <a:r>
              <a:rPr lang="en-GB" sz="1600" dirty="0"/>
              <a:t> the 3 markets behind Ipsen's core assets: </a:t>
            </a:r>
            <a:r>
              <a:rPr lang="en-GB" sz="1600" i="1" dirty="0" err="1"/>
              <a:t>Somatuline</a:t>
            </a:r>
            <a:r>
              <a:rPr lang="en-GB" sz="1600" dirty="0"/>
              <a:t> (cash cow, mature, LOE-expired but galenic-defended), </a:t>
            </a:r>
            <a:r>
              <a:rPr lang="en-GB" sz="1600" i="1" dirty="0"/>
              <a:t>Dysport</a:t>
            </a:r>
            <a:r>
              <a:rPr lang="en-GB" sz="1600" dirty="0"/>
              <a:t> (cash cow + growth, next-gen relay), </a:t>
            </a:r>
            <a:r>
              <a:rPr lang="en-GB" sz="1600" i="1" dirty="0" err="1"/>
              <a:t>Cabometyx</a:t>
            </a:r>
            <a:r>
              <a:rPr lang="en-GB" sz="1600" dirty="0"/>
              <a:t> (cliff 2029, licensed). </a:t>
            </a:r>
          </a:p>
          <a:p>
            <a:pPr algn="ctr"/>
            <a:r>
              <a:rPr lang="en-GB" sz="1600" b="1" dirty="0">
                <a:solidFill>
                  <a:srgbClr val="163B5A"/>
                </a:solidFill>
              </a:rPr>
              <a:t>Together: €2.48bn = 68% of FY25 revenue.</a:t>
            </a:r>
            <a:endParaRPr lang="en-AU" sz="1600" b="1" dirty="0">
              <a:solidFill>
                <a:srgbClr val="163B5A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7D83E1-F675-99E3-6C1C-2A92008F0D95}"/>
              </a:ext>
            </a:extLst>
          </p:cNvPr>
          <p:cNvSpPr txBox="1"/>
          <p:nvPr/>
        </p:nvSpPr>
        <p:spPr>
          <a:xfrm>
            <a:off x="1731131" y="2170915"/>
            <a:ext cx="33250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Neuroendocrine </a:t>
            </a:r>
            <a:r>
              <a:rPr lang="en-AU" sz="1600" b="1" dirty="0" err="1">
                <a:solidFill>
                  <a:srgbClr val="163B5A"/>
                </a:solidFill>
              </a:rPr>
              <a:t>Tumors</a:t>
            </a:r>
            <a:r>
              <a:rPr lang="en-AU" sz="1600" b="1" dirty="0">
                <a:solidFill>
                  <a:srgbClr val="163B5A"/>
                </a:solidFill>
              </a:rPr>
              <a:t> (NET) / Somatostatin </a:t>
            </a:r>
            <a:r>
              <a:rPr lang="en-AU" sz="1600" b="1" dirty="0" err="1">
                <a:solidFill>
                  <a:srgbClr val="163B5A"/>
                </a:solidFill>
              </a:rPr>
              <a:t>Analogs</a:t>
            </a:r>
            <a:endParaRPr lang="en-AU" sz="1600" b="1" dirty="0">
              <a:solidFill>
                <a:srgbClr val="163B5A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C758FD-CFE7-C849-E62E-47FF10B568FD}"/>
              </a:ext>
            </a:extLst>
          </p:cNvPr>
          <p:cNvSpPr txBox="1"/>
          <p:nvPr/>
        </p:nvSpPr>
        <p:spPr>
          <a:xfrm>
            <a:off x="5299018" y="2294025"/>
            <a:ext cx="3325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Botulinum Toxin </a:t>
            </a:r>
            <a:r>
              <a:rPr lang="en-AU" sz="1600" b="1" i="1" dirty="0">
                <a:solidFill>
                  <a:srgbClr val="163B5A"/>
                </a:solidFill>
              </a:rPr>
              <a:t>(Dysport)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3996C3-C82A-5D57-00D5-AE57DA805C67}"/>
              </a:ext>
            </a:extLst>
          </p:cNvPr>
          <p:cNvSpPr txBox="1"/>
          <p:nvPr/>
        </p:nvSpPr>
        <p:spPr>
          <a:xfrm>
            <a:off x="8795099" y="2294025"/>
            <a:ext cx="3325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600" b="1" dirty="0">
                <a:solidFill>
                  <a:srgbClr val="163B5A"/>
                </a:solidFill>
              </a:rPr>
              <a:t>Renal Cell Carcinoma (RCC)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F667C3-6DD6-8530-E428-CA998567C10F}"/>
              </a:ext>
            </a:extLst>
          </p:cNvPr>
          <p:cNvSpPr txBox="1"/>
          <p:nvPr/>
        </p:nvSpPr>
        <p:spPr>
          <a:xfrm>
            <a:off x="215168" y="2983685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Market size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B924C-D738-A426-7DC5-C469B8F4B106}"/>
              </a:ext>
            </a:extLst>
          </p:cNvPr>
          <p:cNvSpPr txBox="1"/>
          <p:nvPr/>
        </p:nvSpPr>
        <p:spPr>
          <a:xfrm>
            <a:off x="215168" y="3634122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Epidemiology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596876-5409-CDD3-F050-ECC4179485A0}"/>
              </a:ext>
            </a:extLst>
          </p:cNvPr>
          <p:cNvSpPr txBox="1"/>
          <p:nvPr/>
        </p:nvSpPr>
        <p:spPr>
          <a:xfrm>
            <a:off x="215168" y="4094447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CAGR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44F113-06C2-98DE-C148-3499CF6CB837}"/>
              </a:ext>
            </a:extLst>
          </p:cNvPr>
          <p:cNvSpPr txBox="1"/>
          <p:nvPr/>
        </p:nvSpPr>
        <p:spPr>
          <a:xfrm>
            <a:off x="215168" y="4473045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Ipsen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4496A9-607C-84B7-5798-6D7199163A5D}"/>
              </a:ext>
            </a:extLst>
          </p:cNvPr>
          <p:cNvSpPr txBox="1"/>
          <p:nvPr/>
        </p:nvSpPr>
        <p:spPr>
          <a:xfrm>
            <a:off x="215168" y="5011328"/>
            <a:ext cx="130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Top competitors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4A90E6-DB2F-7059-5D70-200EE7101BD9}"/>
              </a:ext>
            </a:extLst>
          </p:cNvPr>
          <p:cNvSpPr txBox="1"/>
          <p:nvPr/>
        </p:nvSpPr>
        <p:spPr>
          <a:xfrm>
            <a:off x="215168" y="5953294"/>
            <a:ext cx="130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i="1" dirty="0"/>
              <a:t>Key threat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A39BD4B-13D3-CE4C-FB7B-57FEABD7E41C}"/>
              </a:ext>
            </a:extLst>
          </p:cNvPr>
          <p:cNvCxnSpPr>
            <a:cxnSpLocks/>
          </p:cNvCxnSpPr>
          <p:nvPr/>
        </p:nvCxnSpPr>
        <p:spPr>
          <a:xfrm>
            <a:off x="280820" y="2817040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A42FFC8-E11E-F78F-ED09-DD7D3A70168A}"/>
              </a:ext>
            </a:extLst>
          </p:cNvPr>
          <p:cNvCxnSpPr>
            <a:cxnSpLocks/>
          </p:cNvCxnSpPr>
          <p:nvPr/>
        </p:nvCxnSpPr>
        <p:spPr>
          <a:xfrm>
            <a:off x="280820" y="3466185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13846C-45FD-16B1-DA14-18963CACEE9A}"/>
              </a:ext>
            </a:extLst>
          </p:cNvPr>
          <p:cNvCxnSpPr>
            <a:cxnSpLocks/>
          </p:cNvCxnSpPr>
          <p:nvPr/>
        </p:nvCxnSpPr>
        <p:spPr>
          <a:xfrm>
            <a:off x="280820" y="4395055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ED43C8C-4C12-D662-7792-9FDF654C04D2}"/>
              </a:ext>
            </a:extLst>
          </p:cNvPr>
          <p:cNvCxnSpPr>
            <a:cxnSpLocks/>
          </p:cNvCxnSpPr>
          <p:nvPr/>
        </p:nvCxnSpPr>
        <p:spPr>
          <a:xfrm>
            <a:off x="280820" y="4857766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F04E7A5-063A-5FE3-9B26-A2D084D68B76}"/>
              </a:ext>
            </a:extLst>
          </p:cNvPr>
          <p:cNvCxnSpPr>
            <a:cxnSpLocks/>
          </p:cNvCxnSpPr>
          <p:nvPr/>
        </p:nvCxnSpPr>
        <p:spPr>
          <a:xfrm>
            <a:off x="280820" y="5688110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5C5896F-4A6C-7F45-9E95-9716DE8827B4}"/>
              </a:ext>
            </a:extLst>
          </p:cNvPr>
          <p:cNvSpPr txBox="1"/>
          <p:nvPr/>
        </p:nvSpPr>
        <p:spPr>
          <a:xfrm>
            <a:off x="2032249" y="2817040"/>
            <a:ext cx="2722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/>
              <a:t>Somatostatin analogs ~$5-7bn (2024)</a:t>
            </a:r>
          </a:p>
          <a:p>
            <a:pPr algn="ctr"/>
            <a:r>
              <a:rPr lang="en-FR" sz="1200" dirty="0"/>
              <a:t>NET ≈ 50-59% of it</a:t>
            </a:r>
          </a:p>
          <a:p>
            <a:pPr algn="ctr"/>
            <a:r>
              <a:rPr lang="en-FR" sz="1200" dirty="0"/>
              <a:t>lanreotide segment ~$3.9bn</a:t>
            </a:r>
            <a:endParaRPr lang="en-AU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E578D0-305F-D029-0E02-E0A1266F8513}"/>
              </a:ext>
            </a:extLst>
          </p:cNvPr>
          <p:cNvSpPr txBox="1"/>
          <p:nvPr/>
        </p:nvSpPr>
        <p:spPr>
          <a:xfrm>
            <a:off x="1707663" y="3459912"/>
            <a:ext cx="3372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~35,000 new NET cases/yr (US) </a:t>
            </a:r>
          </a:p>
          <a:p>
            <a:pPr algn="ctr"/>
            <a:r>
              <a:rPr lang="en-GB" sz="1200" dirty="0"/>
              <a:t>~125,000 US prevalence</a:t>
            </a:r>
          </a:p>
          <a:p>
            <a:pPr algn="ctr"/>
            <a:r>
              <a:rPr lang="en-GB" sz="1200" dirty="0"/>
              <a:t>60-80% of GEP-NET patients on SSA therapy</a:t>
            </a:r>
            <a:endParaRPr lang="en-AU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4E7486-6FB3-C922-F573-8725B19242D2}"/>
              </a:ext>
            </a:extLst>
          </p:cNvPr>
          <p:cNvSpPr txBox="1"/>
          <p:nvPr/>
        </p:nvSpPr>
        <p:spPr>
          <a:xfrm>
            <a:off x="1707663" y="4109836"/>
            <a:ext cx="3372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~7%</a:t>
            </a:r>
            <a:endParaRPr lang="en-AU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CE466E-6136-7DA1-497C-8814E18B4E08}"/>
              </a:ext>
            </a:extLst>
          </p:cNvPr>
          <p:cNvSpPr txBox="1"/>
          <p:nvPr/>
        </p:nvSpPr>
        <p:spPr>
          <a:xfrm>
            <a:off x="1707663" y="4396101"/>
            <a:ext cx="3372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Co-leader with </a:t>
            </a:r>
            <a:r>
              <a:rPr lang="en-GB" sz="1200" i="1" dirty="0" err="1"/>
              <a:t>Somatuline</a:t>
            </a:r>
            <a:r>
              <a:rPr lang="en-GB" sz="1200" dirty="0"/>
              <a:t> (</a:t>
            </a:r>
            <a:r>
              <a:rPr lang="en-GB" sz="1200" dirty="0" err="1"/>
              <a:t>lanreotide</a:t>
            </a:r>
            <a:r>
              <a:rPr lang="en-GB" sz="1200" dirty="0"/>
              <a:t> LAR)</a:t>
            </a:r>
          </a:p>
          <a:p>
            <a:pPr algn="ctr"/>
            <a:r>
              <a:rPr lang="en-GB" sz="1200" dirty="0"/>
              <a:t>Top players ~68% combined share</a:t>
            </a:r>
            <a:endParaRPr lang="en-AU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7EE4C4-7437-52E3-11BF-79F89DCB4C1C}"/>
              </a:ext>
            </a:extLst>
          </p:cNvPr>
          <p:cNvSpPr txBox="1"/>
          <p:nvPr/>
        </p:nvSpPr>
        <p:spPr>
          <a:xfrm>
            <a:off x="1481560" y="4857113"/>
            <a:ext cx="3824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Novartis</a:t>
            </a:r>
            <a:r>
              <a:rPr lang="en-GB" sz="1200" dirty="0"/>
              <a:t> (</a:t>
            </a:r>
            <a:r>
              <a:rPr lang="en-GB" sz="1200" dirty="0" err="1"/>
              <a:t>Sandostatin</a:t>
            </a:r>
            <a:r>
              <a:rPr lang="en-GB" sz="1200" dirty="0"/>
              <a:t>/octreotide + </a:t>
            </a:r>
            <a:r>
              <a:rPr lang="en-GB" sz="1200" dirty="0" err="1"/>
              <a:t>Lutathera</a:t>
            </a:r>
            <a:r>
              <a:rPr lang="en-GB" sz="1200" dirty="0"/>
              <a:t> radioligand) </a:t>
            </a:r>
          </a:p>
          <a:p>
            <a:pPr algn="ctr"/>
            <a:r>
              <a:rPr lang="en-GB" sz="1200" b="1" dirty="0"/>
              <a:t>Teva</a:t>
            </a:r>
            <a:r>
              <a:rPr lang="en-GB" sz="1200" dirty="0"/>
              <a:t> (generic octreotide LAR, launched late 2024) </a:t>
            </a:r>
          </a:p>
          <a:p>
            <a:pPr algn="ctr"/>
            <a:r>
              <a:rPr lang="en-GB" sz="1200" b="1" dirty="0"/>
              <a:t>Pfizer</a:t>
            </a:r>
            <a:endParaRPr lang="en-AU" sz="1200" b="1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BCE50A-164B-CB1D-CFA2-3E9274542FD0}"/>
              </a:ext>
            </a:extLst>
          </p:cNvPr>
          <p:cNvCxnSpPr>
            <a:cxnSpLocks/>
          </p:cNvCxnSpPr>
          <p:nvPr/>
        </p:nvCxnSpPr>
        <p:spPr>
          <a:xfrm>
            <a:off x="280820" y="4111166"/>
            <a:ext cx="11772000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CD1CAB4-57C7-8B36-0798-886DEDDB3810}"/>
              </a:ext>
            </a:extLst>
          </p:cNvPr>
          <p:cNvSpPr txBox="1"/>
          <p:nvPr/>
        </p:nvSpPr>
        <p:spPr>
          <a:xfrm>
            <a:off x="1707663" y="5691685"/>
            <a:ext cx="3372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Generic octreotide LAR (Teva 2024) + oral next-gen (</a:t>
            </a:r>
            <a:r>
              <a:rPr lang="en-GB" sz="1200" dirty="0" err="1"/>
              <a:t>Crinetics</a:t>
            </a:r>
            <a:r>
              <a:rPr lang="en-GB" sz="1200" dirty="0"/>
              <a:t> </a:t>
            </a:r>
            <a:r>
              <a:rPr lang="en-GB" sz="1200" dirty="0" err="1"/>
              <a:t>paltusotine</a:t>
            </a:r>
            <a:r>
              <a:rPr lang="en-GB" sz="1200" dirty="0"/>
              <a:t>) + radioligand displacement (Novartis </a:t>
            </a:r>
            <a:r>
              <a:rPr lang="en-GB" sz="1200" dirty="0" err="1"/>
              <a:t>Lutathera</a:t>
            </a:r>
            <a:r>
              <a:rPr lang="en-GB" sz="1200" dirty="0"/>
              <a:t>) erode the galenic moat</a:t>
            </a:r>
            <a:endParaRPr lang="en-AU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7042F7-8DD4-4755-2731-6C792FCCFF48}"/>
              </a:ext>
            </a:extLst>
          </p:cNvPr>
          <p:cNvSpPr txBox="1"/>
          <p:nvPr/>
        </p:nvSpPr>
        <p:spPr>
          <a:xfrm>
            <a:off x="5600136" y="2903688"/>
            <a:ext cx="2722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~$8-10bn (2024)</a:t>
            </a:r>
          </a:p>
          <a:p>
            <a:pPr algn="ctr"/>
            <a:r>
              <a:rPr lang="en-GB" sz="1200" dirty="0"/>
              <a:t>Aesthetic ~46% / therapeutic ~54%</a:t>
            </a:r>
            <a:endParaRPr lang="en-AU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F446C-DA7A-C445-FEB7-B153E9FB1BF8}"/>
              </a:ext>
            </a:extLst>
          </p:cNvPr>
          <p:cNvSpPr txBox="1"/>
          <p:nvPr/>
        </p:nvSpPr>
        <p:spPr>
          <a:xfrm>
            <a:off x="5169270" y="3459912"/>
            <a:ext cx="3576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Aesthetic: largest non-surgical cosmetic procedure</a:t>
            </a:r>
          </a:p>
          <a:p>
            <a:pPr algn="ctr"/>
            <a:r>
              <a:rPr lang="en-GB" sz="1200" dirty="0"/>
              <a:t>Therapeutic: chronic migraine, cervical dystonia, spasticity, hyperhidrosis</a:t>
            </a:r>
            <a:endParaRPr lang="en-AU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DE1680-C8D4-E0B5-B1A9-60BC9CFFF8EA}"/>
              </a:ext>
            </a:extLst>
          </p:cNvPr>
          <p:cNvSpPr txBox="1"/>
          <p:nvPr/>
        </p:nvSpPr>
        <p:spPr>
          <a:xfrm>
            <a:off x="5275550" y="4109836"/>
            <a:ext cx="3372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~9%</a:t>
            </a:r>
            <a:endParaRPr lang="en-AU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8A3A33-0E9C-5000-1E20-D285F4CABE2F}"/>
              </a:ext>
            </a:extLst>
          </p:cNvPr>
          <p:cNvSpPr txBox="1"/>
          <p:nvPr/>
        </p:nvSpPr>
        <p:spPr>
          <a:xfrm>
            <a:off x="5275550" y="4396101"/>
            <a:ext cx="3372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One of 3 established brands (Botox / Dysport / </a:t>
            </a:r>
            <a:r>
              <a:rPr lang="en-GB" sz="1200" dirty="0" err="1"/>
              <a:t>Xeomin</a:t>
            </a:r>
            <a:r>
              <a:rPr lang="en-GB" sz="1200" dirty="0"/>
              <a:t>)</a:t>
            </a:r>
            <a:endParaRPr lang="en-AU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C3DFFC-6CA5-2EF7-EDE5-6D359010FB0F}"/>
              </a:ext>
            </a:extLst>
          </p:cNvPr>
          <p:cNvSpPr txBox="1"/>
          <p:nvPr/>
        </p:nvSpPr>
        <p:spPr>
          <a:xfrm>
            <a:off x="5177621" y="4857113"/>
            <a:ext cx="3567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AbbVie </a:t>
            </a:r>
            <a:r>
              <a:rPr lang="en-GB" sz="1200" dirty="0"/>
              <a:t>(Botox, dominant leader) </a:t>
            </a:r>
            <a:endParaRPr lang="en-GB" sz="1200" b="1" dirty="0"/>
          </a:p>
          <a:p>
            <a:pPr algn="ctr"/>
            <a:r>
              <a:rPr lang="en-GB" sz="1200" b="1" dirty="0"/>
              <a:t>Merz </a:t>
            </a:r>
            <a:r>
              <a:rPr lang="en-GB" sz="1200" dirty="0"/>
              <a:t>(</a:t>
            </a:r>
            <a:r>
              <a:rPr lang="en-GB" sz="1200" dirty="0" err="1"/>
              <a:t>Xeomin</a:t>
            </a:r>
            <a:r>
              <a:rPr lang="en-GB" sz="1200" dirty="0"/>
              <a:t>, preservative-free) </a:t>
            </a:r>
            <a:endParaRPr lang="en-GB" sz="1200" b="1" dirty="0"/>
          </a:p>
          <a:p>
            <a:pPr algn="ctr"/>
            <a:r>
              <a:rPr lang="en-GB" sz="1200" b="1" dirty="0" err="1"/>
              <a:t>Revance</a:t>
            </a:r>
            <a:r>
              <a:rPr lang="en-GB" sz="1200" b="1" dirty="0"/>
              <a:t> (</a:t>
            </a:r>
            <a:r>
              <a:rPr lang="en-GB" sz="1200" dirty="0" err="1"/>
              <a:t>Daxxify</a:t>
            </a:r>
            <a:r>
              <a:rPr lang="en-GB" sz="1200" dirty="0"/>
              <a:t>, 24-week duration) </a:t>
            </a:r>
          </a:p>
          <a:p>
            <a:pPr algn="ctr"/>
            <a:r>
              <a:rPr lang="en-GB" sz="1200" b="1" dirty="0"/>
              <a:t>Korean players </a:t>
            </a:r>
            <a:r>
              <a:rPr lang="en-GB" sz="1200" dirty="0"/>
              <a:t>(Hugel, </a:t>
            </a:r>
            <a:r>
              <a:rPr lang="en-GB" sz="1200" dirty="0" err="1"/>
              <a:t>Daewoong</a:t>
            </a:r>
            <a:r>
              <a:rPr lang="en-GB" sz="1200" dirty="0"/>
              <a:t>, </a:t>
            </a:r>
            <a:r>
              <a:rPr lang="en-GB" sz="1200" dirty="0" err="1"/>
              <a:t>Medytox</a:t>
            </a:r>
            <a:r>
              <a:rPr lang="en-GB" sz="1200" dirty="0"/>
              <a:t>)</a:t>
            </a:r>
            <a:endParaRPr lang="en-AU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849CAA-D927-D571-CB5C-5E99F17DD3C9}"/>
              </a:ext>
            </a:extLst>
          </p:cNvPr>
          <p:cNvSpPr txBox="1"/>
          <p:nvPr/>
        </p:nvSpPr>
        <p:spPr>
          <a:xfrm>
            <a:off x="5275550" y="5691685"/>
            <a:ext cx="3372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Longer-duration entrants (</a:t>
            </a:r>
            <a:r>
              <a:rPr lang="en-GB" sz="1200" dirty="0" err="1"/>
              <a:t>Daxxify</a:t>
            </a:r>
            <a:r>
              <a:rPr lang="en-GB" sz="1200" dirty="0"/>
              <a:t>) + aggressive Korean pricing compress Dysport's mid-tier position: drives Ipsen's next-gen toxin R&amp;D</a:t>
            </a:r>
            <a:endParaRPr lang="en-AU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EE6A7F-65A0-F63F-9668-508269D514CF}"/>
              </a:ext>
            </a:extLst>
          </p:cNvPr>
          <p:cNvSpPr txBox="1"/>
          <p:nvPr/>
        </p:nvSpPr>
        <p:spPr>
          <a:xfrm>
            <a:off x="8801645" y="2903688"/>
            <a:ext cx="33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Advanced RCC therapeutics ~$6bn (2024)</a:t>
            </a:r>
          </a:p>
          <a:p>
            <a:pPr algn="ctr"/>
            <a:r>
              <a:rPr lang="en-GB" sz="1200" dirty="0"/>
              <a:t>Kidney cancer drugs ~$5.8bn</a:t>
            </a:r>
            <a:endParaRPr lang="en-AU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4509C8-EA52-5AA6-25EF-D70856839B63}"/>
              </a:ext>
            </a:extLst>
          </p:cNvPr>
          <p:cNvSpPr txBox="1"/>
          <p:nvPr/>
        </p:nvSpPr>
        <p:spPr>
          <a:xfrm>
            <a:off x="8801645" y="3459912"/>
            <a:ext cx="33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~81,800 new kidney cancer cases/yr (US), ~90% RCC</a:t>
            </a:r>
          </a:p>
          <a:p>
            <a:pPr algn="ctr"/>
            <a:r>
              <a:rPr lang="en-GB" sz="1200" dirty="0"/>
              <a:t>~65% diagnosed at advanced stage</a:t>
            </a:r>
            <a:endParaRPr lang="en-AU" sz="12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90CE10-F439-FF3D-92D5-12280210B731}"/>
              </a:ext>
            </a:extLst>
          </p:cNvPr>
          <p:cNvSpPr txBox="1"/>
          <p:nvPr/>
        </p:nvSpPr>
        <p:spPr>
          <a:xfrm>
            <a:off x="8801645" y="4109836"/>
            <a:ext cx="331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~6%</a:t>
            </a:r>
            <a:endParaRPr lang="en-AU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37E143-6F55-699A-2E00-0E93F2622EEF}"/>
              </a:ext>
            </a:extLst>
          </p:cNvPr>
          <p:cNvSpPr txBox="1"/>
          <p:nvPr/>
        </p:nvSpPr>
        <p:spPr>
          <a:xfrm>
            <a:off x="8801645" y="4396101"/>
            <a:ext cx="33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Challenger: </a:t>
            </a:r>
            <a:r>
              <a:rPr lang="en-GB" sz="1200" dirty="0" err="1"/>
              <a:t>Cabometyx</a:t>
            </a:r>
            <a:r>
              <a:rPr lang="en-GB" sz="1200" dirty="0"/>
              <a:t> from Exelixis (royalties), used 1L mono + combo with Opdivo</a:t>
            </a:r>
            <a:endParaRPr lang="en-AU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64BC64-11B2-ECD8-AAD9-E21F87B3A715}"/>
              </a:ext>
            </a:extLst>
          </p:cNvPr>
          <p:cNvSpPr txBox="1"/>
          <p:nvPr/>
        </p:nvSpPr>
        <p:spPr>
          <a:xfrm>
            <a:off x="8801645" y="4857113"/>
            <a:ext cx="331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MSD </a:t>
            </a:r>
            <a:r>
              <a:rPr lang="en-GB" sz="1200" dirty="0"/>
              <a:t>(</a:t>
            </a:r>
            <a:r>
              <a:rPr lang="en-GB" sz="1200" dirty="0" err="1"/>
              <a:t>Keytruda+Lenvima</a:t>
            </a:r>
            <a:r>
              <a:rPr lang="en-GB" sz="1200" dirty="0"/>
              <a:t>/Inlyta &amp; </a:t>
            </a:r>
            <a:r>
              <a:rPr lang="en-GB" sz="1200" dirty="0" err="1"/>
              <a:t>Welireg</a:t>
            </a:r>
            <a:r>
              <a:rPr lang="en-GB" sz="1200" dirty="0"/>
              <a:t>/</a:t>
            </a:r>
            <a:r>
              <a:rPr lang="en-GB" sz="1200" dirty="0" err="1"/>
              <a:t>belzutifan</a:t>
            </a:r>
            <a:r>
              <a:rPr lang="en-GB" sz="1200" dirty="0"/>
              <a:t> next-gen) </a:t>
            </a:r>
            <a:endParaRPr lang="en-GB" sz="1200" b="1" dirty="0"/>
          </a:p>
          <a:p>
            <a:pPr algn="ctr"/>
            <a:r>
              <a:rPr lang="en-GB" sz="1200" b="1" dirty="0"/>
              <a:t>BMS </a:t>
            </a:r>
            <a:r>
              <a:rPr lang="en-GB" sz="1200" dirty="0"/>
              <a:t>(</a:t>
            </a:r>
            <a:r>
              <a:rPr lang="en-GB" sz="1200" dirty="0" err="1"/>
              <a:t>Opdivo+Yervoy</a:t>
            </a:r>
            <a:r>
              <a:rPr lang="en-GB" sz="1200" dirty="0"/>
              <a:t> &amp; </a:t>
            </a:r>
            <a:r>
              <a:rPr lang="en-GB" sz="1200" dirty="0" err="1"/>
              <a:t>Opdivo+Cabometyx</a:t>
            </a:r>
            <a:r>
              <a:rPr lang="en-GB" sz="1200" dirty="0"/>
              <a:t>)</a:t>
            </a:r>
          </a:p>
          <a:p>
            <a:pPr algn="ctr"/>
            <a:r>
              <a:rPr lang="en-GB" sz="1200" b="1" dirty="0"/>
              <a:t>Eisai/Pfizer </a:t>
            </a:r>
            <a:r>
              <a:rPr lang="en-GB" sz="1200" dirty="0"/>
              <a:t>(</a:t>
            </a:r>
            <a:r>
              <a:rPr lang="en-GB" sz="1200" dirty="0" err="1"/>
              <a:t>Lenvima</a:t>
            </a:r>
            <a:r>
              <a:rPr lang="en-GB" sz="1200" dirty="0"/>
              <a:t>, Inlyta)</a:t>
            </a:r>
            <a:endParaRPr lang="en-AU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AC0E9C-8F92-D544-29EC-446CF7CA6575}"/>
              </a:ext>
            </a:extLst>
          </p:cNvPr>
          <p:cNvSpPr txBox="1"/>
          <p:nvPr/>
        </p:nvSpPr>
        <p:spPr>
          <a:xfrm>
            <a:off x="8801645" y="5691685"/>
            <a:ext cx="33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LOE 2029 + next-gen displacement: </a:t>
            </a:r>
            <a:r>
              <a:rPr lang="en-GB" sz="1200" dirty="0" err="1"/>
              <a:t>zanzalintinib</a:t>
            </a:r>
            <a:r>
              <a:rPr lang="en-GB" sz="1200" dirty="0"/>
              <a:t> (Exelixis' own successor) + </a:t>
            </a:r>
            <a:r>
              <a:rPr lang="en-GB" sz="1200" dirty="0" err="1"/>
              <a:t>belzutifan</a:t>
            </a:r>
            <a:r>
              <a:rPr lang="en-GB" sz="1200" dirty="0"/>
              <a:t> (MSD) target the post-PD-1 setting</a:t>
            </a:r>
            <a:endParaRPr lang="en-AU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3A3423-B10C-1F23-4560-2DB5A775BBA6}"/>
              </a:ext>
            </a:extLst>
          </p:cNvPr>
          <p:cNvSpPr txBox="1"/>
          <p:nvPr/>
        </p:nvSpPr>
        <p:spPr>
          <a:xfrm>
            <a:off x="1410262" y="6642555"/>
            <a:ext cx="93714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/>
              <a:t>Sources: Mordor Intelligence, Grand View Research, GM Insights, Clarivate, Credence Research, </a:t>
            </a:r>
            <a:r>
              <a:rPr lang="en-AU" sz="800" i="1" dirty="0" err="1"/>
              <a:t>DelveInsight</a:t>
            </a:r>
            <a:r>
              <a:rPr lang="en-AU" sz="800" i="1" dirty="0"/>
              <a:t>, company filings (2024-2025). Market sizes vary by scope (aesthetic vs total, advanced vs all-stage).</a:t>
            </a:r>
          </a:p>
        </p:txBody>
      </p:sp>
    </p:spTree>
    <p:extLst>
      <p:ext uri="{BB962C8B-B14F-4D97-AF65-F5344CB8AC3E}">
        <p14:creationId xmlns:p14="http://schemas.microsoft.com/office/powerpoint/2010/main" val="175400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CF26-80AC-234E-0BED-26A22490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EC2526-88FD-82F7-C4E0-73C926E4FB4B}"/>
              </a:ext>
            </a:extLst>
          </p:cNvPr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2A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F1192-4393-4E2A-AD9A-3F574188DCC9}"/>
              </a:ext>
            </a:extLst>
          </p:cNvPr>
          <p:cNvSpPr/>
          <p:nvPr/>
        </p:nvSpPr>
        <p:spPr>
          <a:xfrm rot="5400000">
            <a:off x="6113788" y="-5933787"/>
            <a:ext cx="144423" cy="12012000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0E8020-D4F2-CC3B-296C-DE37B8D8AD21}"/>
              </a:ext>
            </a:extLst>
          </p:cNvPr>
          <p:cNvCxnSpPr/>
          <p:nvPr/>
        </p:nvCxnSpPr>
        <p:spPr>
          <a:xfrm>
            <a:off x="451104" y="1024128"/>
            <a:ext cx="11289792" cy="0"/>
          </a:xfrm>
          <a:prstGeom prst="line">
            <a:avLst/>
          </a:prstGeom>
          <a:ln>
            <a:solidFill>
              <a:srgbClr val="D7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C91159C-0E3F-68F3-E436-4123F0CE4B11}"/>
              </a:ext>
            </a:extLst>
          </p:cNvPr>
          <p:cNvSpPr txBox="1"/>
          <p:nvPr/>
        </p:nvSpPr>
        <p:spPr>
          <a:xfrm>
            <a:off x="451104" y="269949"/>
            <a:ext cx="496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A7C88"/>
                </a:solidFill>
              </a:rPr>
              <a:t>Strategic Outlook &amp; Key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EFBC4-2DED-94D9-033C-5A2382695A80}"/>
              </a:ext>
            </a:extLst>
          </p:cNvPr>
          <p:cNvSpPr txBox="1"/>
          <p:nvPr/>
        </p:nvSpPr>
        <p:spPr>
          <a:xfrm>
            <a:off x="451104" y="716351"/>
            <a:ext cx="1128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163B5A"/>
                </a:solidFill>
              </a:rPr>
              <a:t>Ipsen target a very diversified specialty-care portfolio to secure revenue and decrease dependency on few oncology </a:t>
            </a:r>
            <a:r>
              <a:rPr lang="en-US" sz="1400" dirty="0" err="1">
                <a:solidFill>
                  <a:srgbClr val="163B5A"/>
                </a:solidFill>
              </a:rPr>
              <a:t>produtcs</a:t>
            </a:r>
            <a:endParaRPr lang="en-AU" sz="1400" dirty="0">
              <a:solidFill>
                <a:srgbClr val="163B5A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AE123F-031C-7811-3FD0-10386C31BEB2}"/>
              </a:ext>
            </a:extLst>
          </p:cNvPr>
          <p:cNvSpPr/>
          <p:nvPr/>
        </p:nvSpPr>
        <p:spPr>
          <a:xfrm>
            <a:off x="451104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1D67E-C21E-E07F-B745-20251C7E267C}"/>
              </a:ext>
            </a:extLst>
          </p:cNvPr>
          <p:cNvSpPr txBox="1"/>
          <p:nvPr/>
        </p:nvSpPr>
        <p:spPr>
          <a:xfrm>
            <a:off x="375258" y="1110343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Pipeline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426194-103F-9B3B-01A2-A117D539C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14771"/>
              </p:ext>
            </p:extLst>
          </p:nvPr>
        </p:nvGraphicFramePr>
        <p:xfrm>
          <a:off x="451104" y="1596054"/>
          <a:ext cx="6604001" cy="288261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420077662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962167202"/>
                    </a:ext>
                  </a:extLst>
                </a:gridCol>
                <a:gridCol w="3068638">
                  <a:extLst>
                    <a:ext uri="{9D8B030D-6E8A-4147-A177-3AD203B41FA5}">
                      <a16:colId xmlns:a16="http://schemas.microsoft.com/office/drawing/2014/main" val="1114885578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3793556308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144129067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>
                          <a:solidFill>
                            <a:srgbClr val="FFFFFF"/>
                          </a:solidFill>
                          <a:effectLst/>
                        </a:rPr>
                        <a:t>TA</a:t>
                      </a:r>
                      <a:endParaRPr lang="en-FR" sz="1100" b="1" i="0" u="none" strike="noStrike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>
                          <a:solidFill>
                            <a:srgbClr val="FFFFFF"/>
                          </a:solidFill>
                          <a:effectLst/>
                        </a:rPr>
                        <a:t>Asset</a:t>
                      </a:r>
                      <a:endParaRPr lang="en-FR" sz="1100" b="1" i="0" u="none" strike="noStrike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Program / indication</a:t>
                      </a:r>
                      <a:endParaRPr lang="en-FR" sz="1100" b="1" i="0" u="none" strike="noStrike" dirty="0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rlito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FR" sz="1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Phase</a:t>
                      </a:r>
                      <a:endParaRPr lang="en-FR" sz="1100" b="1" i="0" u="none" strike="noStrike" dirty="0">
                        <a:solidFill>
                          <a:srgbClr val="FFFFFF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3554430"/>
                  </a:ext>
                </a:extLst>
              </a:tr>
              <a:tr h="2029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Oncology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Ojemda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FIREFLY-2: 1L pLGG (</a:t>
                      </a:r>
                      <a:r>
                        <a:rPr lang="en-GB" sz="1100" b="0" u="none" strike="noStrike" dirty="0">
                          <a:effectLst/>
                        </a:rPr>
                        <a:t>RAF inhibitor targeting BRAF) 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SM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97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Oncology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IPN60340 / ICT01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1L AML (</a:t>
                      </a:r>
                      <a:r>
                        <a:rPr lang="en-GB" sz="1100" b="0" u="none" strike="noStrike" dirty="0">
                          <a:effectLst/>
                        </a:rPr>
                        <a:t>T-cell activator) </a:t>
                      </a:r>
                      <a:r>
                        <a:rPr lang="en-GB" sz="1100" b="1" u="none" strike="noStrike" dirty="0">
                          <a:solidFill>
                            <a:srgbClr val="163B5A"/>
                          </a:solidFill>
                          <a:effectLst/>
                        </a:rPr>
                        <a:t>– </a:t>
                      </a:r>
                      <a:r>
                        <a:rPr lang="en-GB" sz="1100" b="1" u="none" strike="noStrike" dirty="0" err="1">
                          <a:solidFill>
                            <a:srgbClr val="163B5A"/>
                          </a:solidFill>
                          <a:effectLst/>
                        </a:rPr>
                        <a:t>ImCheck</a:t>
                      </a:r>
                      <a:r>
                        <a:rPr lang="en-GB" sz="1100" b="1" u="none" strike="noStrike" dirty="0">
                          <a:solidFill>
                            <a:srgbClr val="163B5A"/>
                          </a:solidFill>
                          <a:effectLst/>
                        </a:rPr>
                        <a:t> Therapeutic</a:t>
                      </a:r>
                      <a:endParaRPr lang="en-FR" sz="1100" b="1" i="0" u="none" strike="noStrike" dirty="0">
                        <a:solidFill>
                          <a:srgbClr val="163B5A"/>
                        </a:solidFill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mAb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84215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Oncology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IPN01195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Solid tumors (RAFi)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SM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Phase I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42621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Oncology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IPN60300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Solid tumors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ADC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6144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Oncology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IPN01203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Solid tumors (</a:t>
                      </a:r>
                      <a:r>
                        <a:rPr lang="en-GB" sz="1100" b="0" u="none" strike="noStrike" dirty="0">
                          <a:effectLst/>
                        </a:rPr>
                        <a:t>T-cell activator)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Biologics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89193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Rare Disease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Iqirvo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ELSPIRE: PBC (</a:t>
                      </a:r>
                      <a:r>
                        <a:rPr lang="en-GB" sz="1100" b="0" u="none" strike="noStrike" dirty="0">
                          <a:effectLst/>
                        </a:rPr>
                        <a:t>PPAR </a:t>
                      </a:r>
                      <a:r>
                        <a:rPr lang="el-GR" sz="1100" b="0" u="none" strike="noStrike" dirty="0">
                          <a:effectLst/>
                        </a:rPr>
                        <a:t>α/δ </a:t>
                      </a:r>
                      <a:r>
                        <a:rPr lang="en-GB" sz="1100" b="0" u="none" strike="noStrike" dirty="0">
                          <a:effectLst/>
                        </a:rPr>
                        <a:t>agonist</a:t>
                      </a:r>
                      <a:r>
                        <a:rPr lang="en-FR" sz="1100" b="0" u="none" strike="noStrike" dirty="0">
                          <a:effectLst/>
                        </a:rPr>
                        <a:t>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SM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Phase III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3253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Rare Disease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Elafibranor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ELASCOPe: PSC (</a:t>
                      </a:r>
                      <a:r>
                        <a:rPr lang="en-GB" sz="1100" b="0" u="none" strike="noStrike" dirty="0">
                          <a:effectLst/>
                        </a:rPr>
                        <a:t>PPAR </a:t>
                      </a:r>
                      <a:r>
                        <a:rPr lang="el-GR" sz="1100" b="0" u="none" strike="noStrike" dirty="0">
                          <a:effectLst/>
                        </a:rPr>
                        <a:t>α/δ </a:t>
                      </a:r>
                      <a:r>
                        <a:rPr lang="en-GB" sz="1100" b="0" u="none" strike="noStrike" dirty="0">
                          <a:effectLst/>
                        </a:rPr>
                        <a:t>agonist</a:t>
                      </a:r>
                      <a:r>
                        <a:rPr lang="en-FR" sz="1100" b="0" u="none" strike="noStrike" dirty="0">
                          <a:effectLst/>
                        </a:rPr>
                        <a:t>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SM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0582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Rare Disease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Bylvay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BOLD: biliary atresia (IBAT inhibitor</a:t>
                      </a: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SM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01662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Neuroscience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Dysport </a:t>
                      </a:r>
                      <a:r>
                        <a:rPr lang="en-FR" sz="1100" b="0" i="1" u="none" strike="noStrike" dirty="0">
                          <a:effectLst/>
                        </a:rPr>
                        <a:t>(expansion)</a:t>
                      </a:r>
                      <a:endParaRPr lang="en-FR" sz="1100" b="0" i="1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C/E-BEOND: chronic &amp; episodic migraine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Biologics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Phase III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34273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Neuroscience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Corabotase (FiC)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LAURITE 1 &amp; 2: glabellar lines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Recomb. Prot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47845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Neuroscience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Corabotase (FiC)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LANTIC: glabellar, forehead &amp; lateral canthal lines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Recomb. Prot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22260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Neuroscience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Corabotase (FiC)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LANTIMA: adult upper-limb spasticity (Tx)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Recomb. Prot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44297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Neuroscience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Corabotase (FiC)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MERANTI: migraine (Tx)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Recomb. Prot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Phase II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71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>
                          <a:effectLst/>
                        </a:rPr>
                        <a:t>Neuroscience</a:t>
                      </a:r>
                      <a:endParaRPr lang="en-FR" sz="1100" b="0" i="0" u="none" strike="noStrike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u="none" strike="noStrike" dirty="0">
                          <a:effectLst/>
                        </a:rPr>
                        <a:t>Corabotase (FiC)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CATALPA: cervical dystonia (Tx)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 u="none" strike="noStrike" dirty="0">
                          <a:effectLst/>
                          <a:latin typeface="Carlito"/>
                        </a:rPr>
                        <a:t>Recomb. Prot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FR" sz="1100" b="0" u="none" strike="noStrike" dirty="0">
                          <a:effectLst/>
                        </a:rPr>
                        <a:t>Phase II</a:t>
                      </a:r>
                      <a:endParaRPr lang="en-FR" sz="1100" b="0" i="0" u="none" strike="noStrike" dirty="0">
                        <a:effectLst/>
                        <a:latin typeface="Carlito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934021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26E004F-388A-17C6-74A1-C2BA97F5D1ED}"/>
              </a:ext>
            </a:extLst>
          </p:cNvPr>
          <p:cNvSpPr/>
          <p:nvPr/>
        </p:nvSpPr>
        <p:spPr>
          <a:xfrm>
            <a:off x="7292715" y="1456816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3B326-8B6A-B43C-81BD-EDA44027FD6A}"/>
              </a:ext>
            </a:extLst>
          </p:cNvPr>
          <p:cNvSpPr txBox="1"/>
          <p:nvPr/>
        </p:nvSpPr>
        <p:spPr>
          <a:xfrm>
            <a:off x="7216869" y="1110343"/>
            <a:ext cx="488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M&amp;A / Divestments / Partnerships / Licensing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1399A-7403-EF60-98D3-0C73ECA8A1A8}"/>
              </a:ext>
            </a:extLst>
          </p:cNvPr>
          <p:cNvSpPr txBox="1"/>
          <p:nvPr/>
        </p:nvSpPr>
        <p:spPr>
          <a:xfrm>
            <a:off x="7292715" y="1533161"/>
            <a:ext cx="48140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M&amp;A / divestments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ImCheck</a:t>
            </a:r>
            <a:r>
              <a:rPr lang="en-US" sz="1200" dirty="0"/>
              <a:t> Therapeutics acquisition: ICT01, anti-BTN3A </a:t>
            </a:r>
            <a:r>
              <a:rPr lang="en-US" sz="1200" dirty="0" err="1"/>
              <a:t>mAb</a:t>
            </a:r>
            <a:r>
              <a:rPr lang="en-US" sz="1200" dirty="0"/>
              <a:t>, γ9δ2 T-cell activation in 1L unfit AML (2025)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Simcere</a:t>
            </a:r>
            <a:r>
              <a:rPr lang="en-US" sz="1200" dirty="0"/>
              <a:t> </a:t>
            </a:r>
            <a:r>
              <a:rPr lang="en-US" sz="1200" dirty="0" err="1"/>
              <a:t>Zaiming</a:t>
            </a:r>
            <a:r>
              <a:rPr lang="en-US" sz="1200" dirty="0"/>
              <a:t> license-in: SIM0613, LRRC15-targeting ADC, solid tumors (2025)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Consumer HealthCare divestment to </a:t>
            </a:r>
            <a:r>
              <a:rPr lang="en-US" sz="1200" dirty="0" err="1"/>
              <a:t>Mayoly</a:t>
            </a:r>
            <a:r>
              <a:rPr lang="en-US" sz="1200" dirty="0"/>
              <a:t> Spindler: full refocus on Specialty Care (2022)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/>
              <a:t>Partnerships / licensing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Day One Biopharmaceuticals (</a:t>
            </a:r>
            <a:r>
              <a:rPr lang="en-US" sz="1200" dirty="0" err="1"/>
              <a:t>tovorafenib</a:t>
            </a:r>
            <a:r>
              <a:rPr lang="en-US" sz="1200" dirty="0"/>
              <a:t> / </a:t>
            </a:r>
            <a:r>
              <a:rPr lang="en-US" sz="1200" dirty="0" err="1"/>
              <a:t>Ojemda</a:t>
            </a:r>
            <a:r>
              <a:rPr lang="en-US" sz="1200" dirty="0"/>
              <a:t>, pediatric low-grade glioma) (2024)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Sutro Biopharma: license ROR1-targeting ADC, solid tumors. (2024)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Foreseen Biotechnology: license, first-in-class ADC, solid tumor. (2024)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A8C9D-3489-78B1-A674-4818730DBD1B}"/>
              </a:ext>
            </a:extLst>
          </p:cNvPr>
          <p:cNvSpPr/>
          <p:nvPr/>
        </p:nvSpPr>
        <p:spPr>
          <a:xfrm>
            <a:off x="451104" y="5931179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C909B-1E11-0E16-D846-AED071EC5975}"/>
              </a:ext>
            </a:extLst>
          </p:cNvPr>
          <p:cNvSpPr txBox="1"/>
          <p:nvPr/>
        </p:nvSpPr>
        <p:spPr>
          <a:xfrm>
            <a:off x="375258" y="5584706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Strategic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F4CE8E-138D-CE11-BEDF-A29113930B5B}"/>
              </a:ext>
            </a:extLst>
          </p:cNvPr>
          <p:cNvSpPr/>
          <p:nvPr/>
        </p:nvSpPr>
        <p:spPr>
          <a:xfrm>
            <a:off x="7368561" y="5024970"/>
            <a:ext cx="2900922" cy="45719"/>
          </a:xfrm>
          <a:prstGeom prst="rect">
            <a:avLst/>
          </a:prstGeom>
          <a:solidFill>
            <a:srgbClr val="163B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CDFEB-05A0-99C5-2C6D-BE782D9C4E8D}"/>
              </a:ext>
            </a:extLst>
          </p:cNvPr>
          <p:cNvSpPr txBox="1"/>
          <p:nvPr/>
        </p:nvSpPr>
        <p:spPr>
          <a:xfrm>
            <a:off x="7292715" y="4678497"/>
            <a:ext cx="23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163B5A"/>
                </a:solidFill>
              </a:rPr>
              <a:t>Key questions to 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1670D-671A-2DCD-B1B0-256EF8F004DB}"/>
              </a:ext>
            </a:extLst>
          </p:cNvPr>
          <p:cNvSpPr txBox="1"/>
          <p:nvPr/>
        </p:nvSpPr>
        <p:spPr>
          <a:xfrm>
            <a:off x="451104" y="5976898"/>
            <a:ext cx="6604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Rare Disease emerging as a second growth engine, led by </a:t>
            </a:r>
            <a:r>
              <a:rPr lang="en-US" sz="1200" dirty="0" err="1"/>
              <a:t>Iqirvo</a:t>
            </a:r>
            <a:r>
              <a:rPr lang="en-US" sz="1200" dirty="0"/>
              <a:t> and </a:t>
            </a:r>
            <a:r>
              <a:rPr lang="en-US" sz="1200" dirty="0" err="1"/>
              <a:t>Bylvay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Neuroscience anchored by Dysport, with </a:t>
            </a:r>
            <a:r>
              <a:rPr lang="en-US" sz="1200" dirty="0" err="1"/>
              <a:t>corabotase</a:t>
            </a:r>
            <a:r>
              <a:rPr lang="en-US" sz="1200" dirty="0"/>
              <a:t> as next-generation growth relay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Post-2020 external innovation engine: 30+ best-/first-in-class programs added through M&amp;A, licensing and partnerships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1D0E5E-3D0B-19EB-58EF-4B8BF5D7C54D}"/>
              </a:ext>
            </a:extLst>
          </p:cNvPr>
          <p:cNvSpPr txBox="1"/>
          <p:nvPr/>
        </p:nvSpPr>
        <p:spPr>
          <a:xfrm>
            <a:off x="7292715" y="5116925"/>
            <a:ext cx="48140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Oncology: </a:t>
            </a:r>
            <a:r>
              <a:rPr lang="en-US" sz="1200" dirty="0"/>
              <a:t>With </a:t>
            </a:r>
            <a:r>
              <a:rPr lang="en-US" sz="1200" dirty="0" err="1"/>
              <a:t>Cabometyx</a:t>
            </a:r>
            <a:r>
              <a:rPr lang="en-US" sz="1200" dirty="0"/>
              <a:t> facing LOE in 2029 and next-gen displacement (</a:t>
            </a:r>
            <a:r>
              <a:rPr lang="en-US" sz="1200" dirty="0" err="1"/>
              <a:t>zanzalintinib</a:t>
            </a:r>
            <a:r>
              <a:rPr lang="en-US" sz="1200" dirty="0"/>
              <a:t>, </a:t>
            </a:r>
            <a:r>
              <a:rPr lang="en-US" sz="1200" dirty="0" err="1"/>
              <a:t>belzutifan</a:t>
            </a:r>
            <a:r>
              <a:rPr lang="en-US" sz="1200" dirty="0"/>
              <a:t>), can precision-oncology assets (</a:t>
            </a:r>
            <a:r>
              <a:rPr lang="en-US" sz="1200" dirty="0" err="1"/>
              <a:t>Ojemda</a:t>
            </a:r>
            <a:r>
              <a:rPr lang="en-US" sz="1200" dirty="0"/>
              <a:t>, IPN pipeline) offset the gap fast enough?</a:t>
            </a:r>
          </a:p>
          <a:p>
            <a:r>
              <a:rPr lang="en-US" sz="1200" b="1" dirty="0"/>
              <a:t>Rare Disease: </a:t>
            </a:r>
            <a:r>
              <a:rPr lang="en-US" sz="1200" dirty="0"/>
              <a:t>Rare grew +97% in FY25 (</a:t>
            </a:r>
            <a:r>
              <a:rPr lang="en-US" sz="1200" dirty="0" err="1"/>
              <a:t>Iqirvo</a:t>
            </a:r>
            <a:r>
              <a:rPr lang="en-US" sz="1200" dirty="0"/>
              <a:t>, </a:t>
            </a:r>
            <a:r>
              <a:rPr lang="en-US" sz="1200" dirty="0" err="1"/>
              <a:t>Bylvay</a:t>
            </a:r>
            <a:r>
              <a:rPr lang="en-US" sz="1200" dirty="0"/>
              <a:t>). Is Ipsen building a true second pillar, or still using Rare Disease as portfolio diversification without critical mass?</a:t>
            </a:r>
          </a:p>
          <a:p>
            <a:r>
              <a:rPr lang="en-US" sz="1200" b="1" dirty="0"/>
              <a:t>Neuroscience: </a:t>
            </a:r>
            <a:r>
              <a:rPr lang="en-US" sz="1200" dirty="0"/>
              <a:t>Is Dysport + next-gen toxin enough to defend the mid-tier position against </a:t>
            </a:r>
            <a:r>
              <a:rPr lang="en-US" sz="1200" dirty="0" err="1"/>
              <a:t>Daxxify</a:t>
            </a:r>
            <a:r>
              <a:rPr lang="en-US" sz="1200" dirty="0"/>
              <a:t> and Korean entrants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927033-DC65-645C-9D64-363E24CD6EBB}"/>
              </a:ext>
            </a:extLst>
          </p:cNvPr>
          <p:cNvSpPr txBox="1"/>
          <p:nvPr/>
        </p:nvSpPr>
        <p:spPr>
          <a:xfrm>
            <a:off x="451105" y="4524390"/>
            <a:ext cx="67657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Cliff exposure: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FR" sz="1200" b="1" dirty="0"/>
              <a:t>One acute cliff: Cabometyx 2029</a:t>
            </a:r>
            <a:r>
              <a:rPr lang="en-FR" sz="1200" dirty="0"/>
              <a:t> (~€0.6bn), exposed to next-gen displacement (zanzalintinib, belzutifan).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Makes diversification a need</a:t>
            </a:r>
            <a:r>
              <a:rPr lang="en-US" sz="1200" dirty="0"/>
              <a:t>: cash cows (</a:t>
            </a:r>
            <a:r>
              <a:rPr lang="en-US" sz="1200" dirty="0" err="1"/>
              <a:t>Somatuline</a:t>
            </a:r>
            <a:r>
              <a:rPr lang="en-US" sz="1200" dirty="0"/>
              <a:t> (€1.1bn) + </a:t>
            </a:r>
            <a:r>
              <a:rPr lang="en-US" sz="1200" dirty="0" err="1"/>
              <a:t>Decapeptyl</a:t>
            </a:r>
            <a:r>
              <a:rPr lang="en-US" sz="1200" dirty="0"/>
              <a:t> (€0.5bn)) plateauing + one hard 2029 cliff.</a:t>
            </a:r>
          </a:p>
        </p:txBody>
      </p:sp>
    </p:spTree>
    <p:extLst>
      <p:ext uri="{BB962C8B-B14F-4D97-AF65-F5344CB8AC3E}">
        <p14:creationId xmlns:p14="http://schemas.microsoft.com/office/powerpoint/2010/main" val="420214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1309</Words>
  <Application>Microsoft Macintosh PowerPoint</Application>
  <PresentationFormat>Widescreen</PresentationFormat>
  <Paragraphs>226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Carlito</vt:lpstr>
      <vt:lpstr>Office Theme</vt:lpstr>
      <vt:lpstr>Microsoft Excel Worksheet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Benoit NEITTHOFFER</dc:creator>
  <cp:lastModifiedBy>Benoit NEITTHOFFER</cp:lastModifiedBy>
  <cp:revision>13</cp:revision>
  <dcterms:created xsi:type="dcterms:W3CDTF">2026-04-29T14:19:05Z</dcterms:created>
  <dcterms:modified xsi:type="dcterms:W3CDTF">2026-05-28T15:56:59Z</dcterms:modified>
</cp:coreProperties>
</file>