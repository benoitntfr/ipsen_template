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58" r:id="rId4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3B5A"/>
    <a:srgbClr val="3CCBFF"/>
    <a:srgbClr val="34ADDE"/>
    <a:srgbClr val="2A7FA0"/>
    <a:srgbClr val="5C6B78"/>
    <a:srgbClr val="D7E2E6"/>
    <a:srgbClr val="F4F9FA"/>
    <a:srgbClr val="0A7C88"/>
    <a:srgbClr val="12A6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1"/>
    <p:restoredTop sz="94751"/>
  </p:normalViewPr>
  <p:slideViewPr>
    <p:cSldViewPr snapToGrid="0">
      <p:cViewPr>
        <p:scale>
          <a:sx n="122" d="100"/>
          <a:sy n="122" d="100"/>
        </p:scale>
        <p:origin x="5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23A01-D59A-427F-6B4A-4735D6F70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CCCD6-B209-D382-72FD-9DACAF30E2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92660-5B55-CA62-B8F8-BCB0E1B99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17334-E733-65CA-622E-88C156AF9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AFDB5-1B99-4D3D-3D45-E088532E9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9244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1026-9C88-08ED-30D4-30622782D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B90C3-88DC-C033-69CA-9573B135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A271A-FA97-526F-4EE4-6F90E4F9A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60C0A-BFE4-706B-42C2-D616A225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910C0-C5D5-662C-1F09-EDE66FF40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3587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1641-F923-E38B-C0B7-B004DECE7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8115B-AE24-7B69-E63D-C40736631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11F69-E2EE-5EB1-EC29-3F0F7CCEE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AC7D-2B75-FE9C-98A6-73EF60DA9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C0C9E-F4BF-C068-BA6E-95589DBD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78859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174E9-4A2D-91E0-84B6-6E1480AE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80BE4-14DF-0392-C64D-089C1B3F0C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0C220-2E8C-8DA3-6349-A60072BDD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621AF-462B-4220-D9F5-6AD635349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C4DE30-0556-E9A8-A4F3-693F52C1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FE48D-BCEB-348E-CC03-90CEE9B14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1379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C4524-1522-66AC-4916-B88726E05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533816-E391-6C62-E5B6-1B2CB82C6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92B679-B96D-F063-A507-DEC5FB77D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BE70EB-63C4-174F-4160-46E6BE45BA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E2E5AA-CE03-C136-8947-60F76E5DAD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5AC947-CC51-011C-B871-6E49378E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B06243-7C56-FB06-28AA-DEA59DAB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9EC0B-7692-7A8F-98B6-C20637D9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2514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B1259-A583-1FAE-0894-7875D3F4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76B801-C5BB-28DE-84A7-C9AF80035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963F40-2C7C-57CC-E856-D52A290B9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CB7E4D-4C1B-E9E8-779C-98C9874E8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433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029963-6848-A67E-B0E8-11DF7E980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358598-B929-131B-992A-736C2F8C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36F21-F686-D50C-15E7-73C7D254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2695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012E-F397-A1AE-4AF4-BD010F209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EC8FB-0B5A-B6A0-AA41-0CC4142D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63244-18CB-6115-5229-C86594C4C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F970C-498A-638D-70A3-9CA91D7F0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4326B-0186-614C-BA55-565B6BA4E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35F11-0975-0603-CA38-BF65AB0E5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0585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CD5B-3593-A6E0-C7DD-ED938C48A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6C204E-D3B2-301A-178B-290B96466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F0B4D-F074-C238-741D-CF3B1798E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AB9E8-4D72-BB3D-B630-7330294E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DAA87D-C6FD-BEF8-415B-FDD16828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2853E-C514-5773-277E-6F5670529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689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CA49D-49CC-2E46-FBE1-CE00CAE06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5E80D-D1DB-5F0B-3EAC-AB050B8607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EA23CE-A7A6-EF6E-A6E8-16ABEF720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B3640-270F-E387-0F93-9A924BC9C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BC334-F8CE-C3BA-B236-562ADD6E7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142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3A5ABB-AC2C-4821-6714-2A4222F7DF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1D8A6A-647A-B0CD-A3EC-42B2B9BDD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0748-2070-7C1E-00ED-755ED3656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4C116-3F32-9001-159B-EEC78DEC0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C46B2-246F-0E7C-584E-23336F8BC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3307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89BF1B-0CBE-BC45-A376-80DB52B47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68DEE1-FF97-A5BF-329B-3D053BA65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2AA71-1154-B1CC-F3A2-7098795E41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D69EC-00D5-4D8F-4732-C9C8E51AD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0D548-9C18-468B-1261-6EB3C4309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133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3932-B9A7-BBF1-0F06-B9E641DE0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781270-B1CA-CC68-8272-76D5B7FC02DC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CCCC47-554E-5BB8-32FD-26ACD3E06A08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10551A7-7D7F-3473-66BD-3861DDB38FEC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413FD2-4082-6B36-FAC6-F4ABD41FFCA0}"/>
              </a:ext>
            </a:extLst>
          </p:cNvPr>
          <p:cNvSpPr txBox="1"/>
          <p:nvPr/>
        </p:nvSpPr>
        <p:spPr>
          <a:xfrm>
            <a:off x="451104" y="269949"/>
            <a:ext cx="24118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IPSEN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1A7399-7304-370C-46A6-54B7A9373618}"/>
              </a:ext>
            </a:extLst>
          </p:cNvPr>
          <p:cNvSpPr txBox="1"/>
          <p:nvPr/>
        </p:nvSpPr>
        <p:spPr>
          <a:xfrm>
            <a:off x="451104" y="722589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163B5A"/>
                </a:solidFill>
              </a:rPr>
              <a:t>Oncology is the group cash cow, drives revenue while </a:t>
            </a:r>
            <a:r>
              <a:rPr lang="en-AU" sz="1400" dirty="0" err="1">
                <a:solidFill>
                  <a:srgbClr val="163B5A"/>
                </a:solidFill>
              </a:rPr>
              <a:t>fueling</a:t>
            </a:r>
            <a:r>
              <a:rPr lang="en-AU" sz="1400" dirty="0">
                <a:solidFill>
                  <a:srgbClr val="163B5A"/>
                </a:solidFill>
              </a:rPr>
              <a:t> the emergence of neuroscience and rare diseases products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F703125-CAAF-583B-C36A-51A88959B899}"/>
              </a:ext>
            </a:extLst>
          </p:cNvPr>
          <p:cNvSpPr/>
          <p:nvPr/>
        </p:nvSpPr>
        <p:spPr>
          <a:xfrm>
            <a:off x="451104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C21DBF-B41B-0648-001E-29886316F1AF}"/>
              </a:ext>
            </a:extLst>
          </p:cNvPr>
          <p:cNvSpPr txBox="1"/>
          <p:nvPr/>
        </p:nvSpPr>
        <p:spPr>
          <a:xfrm>
            <a:off x="375258" y="1110343"/>
            <a:ext cx="1012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General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04A1F9-80D6-6B9D-6B51-9FBA23018A5B}"/>
              </a:ext>
            </a:extLst>
          </p:cNvPr>
          <p:cNvSpPr txBox="1"/>
          <p:nvPr/>
        </p:nvSpPr>
        <p:spPr>
          <a:xfrm>
            <a:off x="451104" y="1534679"/>
            <a:ext cx="450027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Founded:</a:t>
            </a:r>
            <a:r>
              <a:rPr lang="en-FR" sz="1200" dirty="0"/>
              <a:t> 1929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Main therapeutic areas:</a:t>
            </a:r>
            <a:r>
              <a:rPr lang="en-FR" sz="1200" dirty="0"/>
              <a:t> Oncology, Neurosciences, Rare Diseases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Commercial footprint:</a:t>
            </a:r>
            <a:r>
              <a:rPr lang="en-FR" sz="1200" dirty="0"/>
              <a:t> 88 countries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Employees:</a:t>
            </a:r>
            <a:r>
              <a:rPr lang="en-FR" sz="1200" dirty="0"/>
              <a:t> 5,300+ worldwide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2025 revenue:</a:t>
            </a:r>
            <a:r>
              <a:rPr lang="en-FR" sz="1200" dirty="0"/>
              <a:t> €3.68bn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Controlling shareholder</a:t>
            </a:r>
            <a:r>
              <a:rPr lang="en-GB" sz="1200" dirty="0"/>
              <a:t>: </a:t>
            </a:r>
            <a:r>
              <a:rPr lang="en-GB" sz="1200" dirty="0" err="1"/>
              <a:t>Beaufour</a:t>
            </a:r>
            <a:r>
              <a:rPr lang="en-GB" sz="1200" dirty="0"/>
              <a:t> family (~57% via </a:t>
            </a:r>
            <a:r>
              <a:rPr lang="en-GB" sz="1200" dirty="0" err="1"/>
              <a:t>Mayroy</a:t>
            </a:r>
            <a:r>
              <a:rPr lang="en-GB" sz="1200" dirty="0"/>
              <a:t>)</a:t>
            </a:r>
            <a:endParaRPr lang="en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Geography sales 2025</a:t>
            </a:r>
            <a:r>
              <a:rPr lang="en-FR" sz="1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Europe</a:t>
            </a:r>
            <a:r>
              <a:rPr lang="en-FR" sz="1200" dirty="0"/>
              <a:t>: 39.7% Rev (€1.46bn, +15.4% 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North America</a:t>
            </a:r>
            <a:r>
              <a:rPr lang="en-FR" sz="1200" dirty="0"/>
              <a:t>: 35.1% Rev (€1.29bn, + 9.3% 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RoW</a:t>
            </a:r>
            <a:r>
              <a:rPr lang="en-FR" sz="1200" dirty="0"/>
              <a:t>: 25.2% Rev (€0.92bn, +7.5% 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Financial highlights: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Net cash position: +€560M (FY25): strong bolt-on M&amp;A firepower</a:t>
            </a:r>
            <a:endParaRPr lang="en-FR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DF435D-1ACB-FF21-2115-A000A2EA182D}"/>
              </a:ext>
            </a:extLst>
          </p:cNvPr>
          <p:cNvSpPr txBox="1"/>
          <p:nvPr/>
        </p:nvSpPr>
        <p:spPr>
          <a:xfrm>
            <a:off x="13102814" y="5690795"/>
            <a:ext cx="231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 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A188FADF-309A-399C-3546-0C19F4F2D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005757"/>
              </p:ext>
            </p:extLst>
          </p:nvPr>
        </p:nvGraphicFramePr>
        <p:xfrm>
          <a:off x="6235431" y="1608530"/>
          <a:ext cx="5871503" cy="3221355"/>
        </p:xfrm>
        <a:graphic>
          <a:graphicData uri="http://schemas.openxmlformats.org/drawingml/2006/table">
            <a:tbl>
              <a:tblPr/>
              <a:tblGrid>
                <a:gridCol w="3013263">
                  <a:extLst>
                    <a:ext uri="{9D8B030D-6E8A-4147-A177-3AD203B41FA5}">
                      <a16:colId xmlns:a16="http://schemas.microsoft.com/office/drawing/2014/main" val="1086495563"/>
                    </a:ext>
                  </a:extLst>
                </a:gridCol>
                <a:gridCol w="1085162">
                  <a:extLst>
                    <a:ext uri="{9D8B030D-6E8A-4147-A177-3AD203B41FA5}">
                      <a16:colId xmlns:a16="http://schemas.microsoft.com/office/drawing/2014/main" val="3095386841"/>
                    </a:ext>
                  </a:extLst>
                </a:gridCol>
                <a:gridCol w="1085162">
                  <a:extLst>
                    <a:ext uri="{9D8B030D-6E8A-4147-A177-3AD203B41FA5}">
                      <a16:colId xmlns:a16="http://schemas.microsoft.com/office/drawing/2014/main" val="2581013858"/>
                    </a:ext>
                  </a:extLst>
                </a:gridCol>
                <a:gridCol w="687916">
                  <a:extLst>
                    <a:ext uri="{9D8B030D-6E8A-4147-A177-3AD203B41FA5}">
                      <a16:colId xmlns:a16="http://schemas.microsoft.com/office/drawing/2014/main" val="1447243760"/>
                    </a:ext>
                  </a:extLst>
                </a:gridCol>
              </a:tblGrid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900" b="0" i="1" u="none" strike="noStrike" dirty="0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(in million of euros)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2024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YoY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1293505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 dirty="0">
                          <a:effectLst/>
                          <a:latin typeface="Arial" panose="020B0604020202020204" pitchFamily="34" charset="0"/>
                        </a:rPr>
                        <a:t>Revenue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3 676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3 401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8%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418651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Oncology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2 544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2 505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2%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67193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Oncology/Rev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74%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37360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Neurosciences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746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701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14563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Neurosciences/Rev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554571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Rare diseases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386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196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97%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790158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Rare diseases/Rev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11%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6%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971473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 dirty="0">
                          <a:effectLst/>
                          <a:latin typeface="Arial" panose="020B0604020202020204" pitchFamily="34" charset="0"/>
                        </a:rPr>
                        <a:t>Cost of sales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 dirty="0">
                          <a:effectLst/>
                          <a:latin typeface="Arial" panose="020B0604020202020204" pitchFamily="34" charset="0"/>
                        </a:rPr>
                        <a:t> $             ( 751)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( 704)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574439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Gross Margin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3 178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2 870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11%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47025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Selling general and administrative expenses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(1 163)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(1 088)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31458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SG&amp;A/Rev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32%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32%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368655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 dirty="0">
                          <a:effectLst/>
                          <a:latin typeface="Arial" panose="020B0604020202020204" pitchFamily="34" charset="0"/>
                        </a:rPr>
                        <a:t>Research and development expenses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( 754)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( 687)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10%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9050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R&amp;D/Rev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0777429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Other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( 288)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( 318)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-10%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80946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Impairment losses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( 347)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( 281)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24%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704503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Operating Income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626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497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26%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8822685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Total financial income and expenses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( 181)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( 149)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0435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Consolidated Net Profit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445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347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 dirty="0">
                          <a:effectLst/>
                          <a:latin typeface="Arial" panose="020B0604020202020204" pitchFamily="34" charset="0"/>
                        </a:rPr>
                        <a:t>28%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691924"/>
                  </a:ext>
                </a:extLst>
              </a:tr>
            </a:tbl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759E410D-241E-46EC-CC8F-BC9119AEC800}"/>
              </a:ext>
            </a:extLst>
          </p:cNvPr>
          <p:cNvSpPr/>
          <p:nvPr/>
        </p:nvSpPr>
        <p:spPr>
          <a:xfrm>
            <a:off x="6261845" y="1456815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6AD165-8413-8562-8CBC-F6DF9DEB7EB6}"/>
              </a:ext>
            </a:extLst>
          </p:cNvPr>
          <p:cNvSpPr txBox="1"/>
          <p:nvPr/>
        </p:nvSpPr>
        <p:spPr>
          <a:xfrm>
            <a:off x="6185999" y="1110342"/>
            <a:ext cx="1265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Financials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C09DE2-899D-8DC4-90B4-C5DDAC5D7BFC}"/>
              </a:ext>
            </a:extLst>
          </p:cNvPr>
          <p:cNvSpPr/>
          <p:nvPr/>
        </p:nvSpPr>
        <p:spPr>
          <a:xfrm>
            <a:off x="526950" y="4992464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9DD423-1ECE-A203-FA18-511DF4D5D84E}"/>
              </a:ext>
            </a:extLst>
          </p:cNvPr>
          <p:cNvSpPr txBox="1"/>
          <p:nvPr/>
        </p:nvSpPr>
        <p:spPr>
          <a:xfrm>
            <a:off x="451104" y="4645991"/>
            <a:ext cx="1133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Products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263C2BD3-25AA-1DA2-4148-3233276D2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119692"/>
              </p:ext>
            </p:extLst>
          </p:nvPr>
        </p:nvGraphicFramePr>
        <p:xfrm>
          <a:off x="526950" y="5166831"/>
          <a:ext cx="9898900" cy="1582479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848058">
                  <a:extLst>
                    <a:ext uri="{9D8B030D-6E8A-4147-A177-3AD203B41FA5}">
                      <a16:colId xmlns:a16="http://schemas.microsoft.com/office/drawing/2014/main" val="1755445364"/>
                    </a:ext>
                  </a:extLst>
                </a:gridCol>
                <a:gridCol w="1174595">
                  <a:extLst>
                    <a:ext uri="{9D8B030D-6E8A-4147-A177-3AD203B41FA5}">
                      <a16:colId xmlns:a16="http://schemas.microsoft.com/office/drawing/2014/main" val="1116672927"/>
                    </a:ext>
                  </a:extLst>
                </a:gridCol>
                <a:gridCol w="1865971">
                  <a:extLst>
                    <a:ext uri="{9D8B030D-6E8A-4147-A177-3AD203B41FA5}">
                      <a16:colId xmlns:a16="http://schemas.microsoft.com/office/drawing/2014/main" val="356679497"/>
                    </a:ext>
                  </a:extLst>
                </a:gridCol>
                <a:gridCol w="3113088">
                  <a:extLst>
                    <a:ext uri="{9D8B030D-6E8A-4147-A177-3AD203B41FA5}">
                      <a16:colId xmlns:a16="http://schemas.microsoft.com/office/drawing/2014/main" val="853823028"/>
                    </a:ext>
                  </a:extLst>
                </a:gridCol>
                <a:gridCol w="1454150">
                  <a:extLst>
                    <a:ext uri="{9D8B030D-6E8A-4147-A177-3AD203B41FA5}">
                      <a16:colId xmlns:a16="http://schemas.microsoft.com/office/drawing/2014/main" val="4258530580"/>
                    </a:ext>
                  </a:extLst>
                </a:gridCol>
                <a:gridCol w="560388">
                  <a:extLst>
                    <a:ext uri="{9D8B030D-6E8A-4147-A177-3AD203B41FA5}">
                      <a16:colId xmlns:a16="http://schemas.microsoft.com/office/drawing/2014/main" val="4174490988"/>
                    </a:ext>
                  </a:extLst>
                </a:gridCol>
                <a:gridCol w="882650">
                  <a:extLst>
                    <a:ext uri="{9D8B030D-6E8A-4147-A177-3AD203B41FA5}">
                      <a16:colId xmlns:a16="http://schemas.microsoft.com/office/drawing/2014/main" val="1289759013"/>
                    </a:ext>
                  </a:extLst>
                </a:gridCol>
              </a:tblGrid>
              <a:tr h="2599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Product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TA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MoA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Indication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Rev 2025 (€M)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rlito"/>
                        </a:rPr>
                        <a:t>LOE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46744846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Somatuline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Somatostatin </a:t>
                      </a:r>
                      <a:r>
                        <a:rPr lang="en-GB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analog</a:t>
                      </a: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(SSA)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 (neuroendocrine </a:t>
                      </a:r>
                      <a:r>
                        <a:rPr lang="en-GB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tumors</a:t>
                      </a: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+ acromegaly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1 135 (+4.3%)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Peptide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Expired (2015)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93734328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Cabometyx*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Multi-TKI (VEGFR/MET/AXL)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+ HCC + thyroid.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613 (+5.1%)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14011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Decapeptyl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GnRH agonist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Prostate cancer + endometriosis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543 (+2.7%)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Peptide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Expired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31744614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Onivyde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topoisomerase I inhibitor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Pancreatic (PDAC)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207 (+6.2%)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02811013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Iqirvo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Rare Diseases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PPAR</a:t>
                      </a:r>
                      <a:r>
                        <a:rPr lang="el-G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α/δ </a:t>
                      </a: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agonist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PBC (primary biliary cholangitis).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184 (launched)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6977273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Bylvay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Rare Diseases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IBAT inhibitor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Cholestatic liver (PFIC, biliary atresia).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180 (+36.3%)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5480271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Dysport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Neurosciences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Botulinum toxin type A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Aesthetic + therapeutic (spasticity, dystonia, migraine).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734 (+9.7%)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Biologics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N/A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8032319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BA9D6793-9232-8911-0D97-59C86A77114B}"/>
              </a:ext>
            </a:extLst>
          </p:cNvPr>
          <p:cNvSpPr txBox="1"/>
          <p:nvPr/>
        </p:nvSpPr>
        <p:spPr>
          <a:xfrm>
            <a:off x="10452312" y="6564260"/>
            <a:ext cx="16546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i="1" dirty="0"/>
              <a:t>* Licensed from Exelixis.</a:t>
            </a:r>
          </a:p>
        </p:txBody>
      </p:sp>
    </p:spTree>
    <p:extLst>
      <p:ext uri="{BB962C8B-B14F-4D97-AF65-F5344CB8AC3E}">
        <p14:creationId xmlns:p14="http://schemas.microsoft.com/office/powerpoint/2010/main" val="286838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D59CB-6B9B-1D93-F333-21890B19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07CEFD-77F8-7C0E-E7E7-597A1250BC0E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E542B0-C73B-8789-6A5D-ED5EA0330E7F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387E16-F46A-D91B-F9C2-BB873034C657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8D9E3B2-8917-F90B-28DC-ACACD708ACBD}"/>
              </a:ext>
            </a:extLst>
          </p:cNvPr>
          <p:cNvSpPr txBox="1"/>
          <p:nvPr/>
        </p:nvSpPr>
        <p:spPr>
          <a:xfrm>
            <a:off x="451104" y="269949"/>
            <a:ext cx="5546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Key Markets &amp; Competitive Landscape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23FB21-C863-6D93-9C5D-DC58F4E2CA8E}"/>
              </a:ext>
            </a:extLst>
          </p:cNvPr>
          <p:cNvSpPr txBox="1"/>
          <p:nvPr/>
        </p:nvSpPr>
        <p:spPr>
          <a:xfrm>
            <a:off x="451104" y="716351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163B5A"/>
                </a:solidFill>
              </a:rPr>
              <a:t>XXXX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7309D6-F235-4153-66C5-EABAD384377D}"/>
              </a:ext>
            </a:extLst>
          </p:cNvPr>
          <p:cNvSpPr/>
          <p:nvPr/>
        </p:nvSpPr>
        <p:spPr>
          <a:xfrm>
            <a:off x="526950" y="23809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943AD7-58A9-9ECC-E9B3-78E67C6D31AD}"/>
              </a:ext>
            </a:extLst>
          </p:cNvPr>
          <p:cNvSpPr txBox="1"/>
          <p:nvPr/>
        </p:nvSpPr>
        <p:spPr>
          <a:xfrm>
            <a:off x="451104" y="2034443"/>
            <a:ext cx="118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Oncology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78747F-ED8F-6803-3399-5D848F893357}"/>
              </a:ext>
            </a:extLst>
          </p:cNvPr>
          <p:cNvSpPr/>
          <p:nvPr/>
        </p:nvSpPr>
        <p:spPr>
          <a:xfrm>
            <a:off x="4697616" y="23809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1522C-6AB8-3A42-FBC1-32A1AF43BE03}"/>
              </a:ext>
            </a:extLst>
          </p:cNvPr>
          <p:cNvSpPr txBox="1"/>
          <p:nvPr/>
        </p:nvSpPr>
        <p:spPr>
          <a:xfrm>
            <a:off x="4621770" y="2034443"/>
            <a:ext cx="196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PPAR </a:t>
            </a:r>
            <a:r>
              <a:rPr lang="el-GR" b="1" dirty="0">
                <a:solidFill>
                  <a:srgbClr val="163B5A"/>
                </a:solidFill>
              </a:rPr>
              <a:t>α/δ </a:t>
            </a:r>
            <a:r>
              <a:rPr lang="en-AU" b="1" dirty="0">
                <a:solidFill>
                  <a:srgbClr val="163B5A"/>
                </a:solidFill>
              </a:rPr>
              <a:t>agonist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20A729-A476-3ADB-A2A7-82EFA36482DF}"/>
              </a:ext>
            </a:extLst>
          </p:cNvPr>
          <p:cNvSpPr txBox="1"/>
          <p:nvPr/>
        </p:nvSpPr>
        <p:spPr>
          <a:xfrm>
            <a:off x="451103" y="1154740"/>
            <a:ext cx="112897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FR" dirty="0"/>
              <a:t>Focus rationale: Ipsen revenue concentrates in 3 franchises (Onco 69%, Neuro 20%, Rare disease 11%). We analyze the 2 markets defining its strategic trajectory: [marché 1] and [marché 2]</a:t>
            </a:r>
            <a:endParaRPr lang="en-AU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F32A66-789B-0E8C-C5F8-B8D0E3CDAA2F}"/>
              </a:ext>
            </a:extLst>
          </p:cNvPr>
          <p:cNvSpPr/>
          <p:nvPr/>
        </p:nvSpPr>
        <p:spPr>
          <a:xfrm>
            <a:off x="8839972" y="2380915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7F4BC-4214-0A86-8100-D05D7CEA4315}"/>
              </a:ext>
            </a:extLst>
          </p:cNvPr>
          <p:cNvSpPr txBox="1"/>
          <p:nvPr/>
        </p:nvSpPr>
        <p:spPr>
          <a:xfrm>
            <a:off x="8764126" y="2034442"/>
            <a:ext cx="196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PPAR </a:t>
            </a:r>
            <a:r>
              <a:rPr lang="el-GR" b="1" dirty="0">
                <a:solidFill>
                  <a:srgbClr val="163B5A"/>
                </a:solidFill>
              </a:rPr>
              <a:t>α/δ </a:t>
            </a:r>
            <a:r>
              <a:rPr lang="en-AU" b="1" dirty="0">
                <a:solidFill>
                  <a:srgbClr val="163B5A"/>
                </a:solidFill>
              </a:rPr>
              <a:t>agonist</a:t>
            </a:r>
          </a:p>
        </p:txBody>
      </p:sp>
    </p:spTree>
    <p:extLst>
      <p:ext uri="{BB962C8B-B14F-4D97-AF65-F5344CB8AC3E}">
        <p14:creationId xmlns:p14="http://schemas.microsoft.com/office/powerpoint/2010/main" val="1754002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CF26-80AC-234E-0BED-26A22490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EC2526-88FD-82F7-C4E0-73C926E4FB4B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7F1192-4393-4E2A-AD9A-3F574188DCC9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0E8020-D4F2-CC3B-296C-DE37B8D8AD21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C91159C-0E3F-68F3-E436-4123F0CE4B11}"/>
              </a:ext>
            </a:extLst>
          </p:cNvPr>
          <p:cNvSpPr txBox="1"/>
          <p:nvPr/>
        </p:nvSpPr>
        <p:spPr>
          <a:xfrm>
            <a:off x="451104" y="269949"/>
            <a:ext cx="4966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Strategic Outlook &amp; Key Questions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EFBC4-2DED-94D9-033C-5A2382695A80}"/>
              </a:ext>
            </a:extLst>
          </p:cNvPr>
          <p:cNvSpPr txBox="1"/>
          <p:nvPr/>
        </p:nvSpPr>
        <p:spPr>
          <a:xfrm>
            <a:off x="451104" y="716351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Ipsen target a very diversified specialty-care portfolio to secure revenue and decrease dependency on few oncology </a:t>
            </a:r>
            <a:r>
              <a:rPr lang="en-US" sz="1400" dirty="0" err="1"/>
              <a:t>produtcs</a:t>
            </a:r>
            <a:endParaRPr lang="en-AU" sz="1400" dirty="0">
              <a:solidFill>
                <a:srgbClr val="163B5A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AE123F-031C-7811-3FD0-10386C31BEB2}"/>
              </a:ext>
            </a:extLst>
          </p:cNvPr>
          <p:cNvSpPr/>
          <p:nvPr/>
        </p:nvSpPr>
        <p:spPr>
          <a:xfrm>
            <a:off x="451104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1D67E-C21E-E07F-B745-20251C7E267C}"/>
              </a:ext>
            </a:extLst>
          </p:cNvPr>
          <p:cNvSpPr txBox="1"/>
          <p:nvPr/>
        </p:nvSpPr>
        <p:spPr>
          <a:xfrm>
            <a:off x="375258" y="1110343"/>
            <a:ext cx="1042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Pipeline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3426194-103F-9B3B-01A2-A117D539C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648980"/>
              </p:ext>
            </p:extLst>
          </p:nvPr>
        </p:nvGraphicFramePr>
        <p:xfrm>
          <a:off x="451104" y="1697532"/>
          <a:ext cx="6604001" cy="2882617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895350">
                  <a:extLst>
                    <a:ext uri="{9D8B030D-6E8A-4147-A177-3AD203B41FA5}">
                      <a16:colId xmlns:a16="http://schemas.microsoft.com/office/drawing/2014/main" val="420077662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3962167202"/>
                    </a:ext>
                  </a:extLst>
                </a:gridCol>
                <a:gridCol w="3068638">
                  <a:extLst>
                    <a:ext uri="{9D8B030D-6E8A-4147-A177-3AD203B41FA5}">
                      <a16:colId xmlns:a16="http://schemas.microsoft.com/office/drawing/2014/main" val="1114885578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3793556308"/>
                    </a:ext>
                  </a:extLst>
                </a:gridCol>
                <a:gridCol w="563563">
                  <a:extLst>
                    <a:ext uri="{9D8B030D-6E8A-4147-A177-3AD203B41FA5}">
                      <a16:colId xmlns:a16="http://schemas.microsoft.com/office/drawing/2014/main" val="1441290671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>
                          <a:solidFill>
                            <a:srgbClr val="FFFFFF"/>
                          </a:solidFill>
                          <a:effectLst/>
                        </a:rPr>
                        <a:t>TA</a:t>
                      </a:r>
                      <a:endParaRPr lang="en-FR" sz="1100" b="1" i="0" u="none" strike="noStrike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>
                          <a:solidFill>
                            <a:srgbClr val="FFFFFF"/>
                          </a:solidFill>
                          <a:effectLst/>
                        </a:rPr>
                        <a:t>Asset</a:t>
                      </a:r>
                      <a:endParaRPr lang="en-FR" sz="1100" b="1" i="0" u="none" strike="noStrike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Program / indication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Phase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33554430"/>
                  </a:ext>
                </a:extLst>
              </a:tr>
              <a:tr h="2029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Oncology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Ojemda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FIREFLY-2: 1L pLGG (</a:t>
                      </a:r>
                      <a:r>
                        <a:rPr lang="en-GB" sz="1100" b="0" u="none" strike="noStrike" dirty="0">
                          <a:effectLst/>
                        </a:rPr>
                        <a:t>RAF inhibitor targeting BRAF) 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6978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IPN60340 / ICT01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1L AML (</a:t>
                      </a:r>
                      <a:r>
                        <a:rPr lang="en-GB" sz="1100" b="0" u="none" strike="noStrike" dirty="0">
                          <a:effectLst/>
                        </a:rPr>
                        <a:t>T-cell activator) </a:t>
                      </a:r>
                      <a:r>
                        <a:rPr lang="en-GB" sz="1100" b="1" u="none" strike="noStrike" dirty="0">
                          <a:solidFill>
                            <a:srgbClr val="163B5A"/>
                          </a:solidFill>
                          <a:effectLst/>
                        </a:rPr>
                        <a:t>– </a:t>
                      </a:r>
                      <a:r>
                        <a:rPr lang="en-GB" sz="1100" b="1" u="none" strike="noStrike" dirty="0" err="1">
                          <a:solidFill>
                            <a:srgbClr val="163B5A"/>
                          </a:solidFill>
                          <a:effectLst/>
                        </a:rPr>
                        <a:t>ImCheck</a:t>
                      </a:r>
                      <a:r>
                        <a:rPr lang="en-GB" sz="1100" b="1" u="none" strike="noStrike" dirty="0">
                          <a:solidFill>
                            <a:srgbClr val="163B5A"/>
                          </a:solidFill>
                          <a:effectLst/>
                        </a:rPr>
                        <a:t> Therapeutic</a:t>
                      </a:r>
                      <a:endParaRPr lang="en-FR" sz="1100" b="1" i="0" u="none" strike="noStrike" dirty="0">
                        <a:solidFill>
                          <a:srgbClr val="163B5A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mAb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684215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IPN01195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Solid tumors (RAFi)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42621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IPN60300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Solid tumors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ADC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61449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IPN01203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Solid tumors (</a:t>
                      </a:r>
                      <a:r>
                        <a:rPr lang="en-GB" sz="1100" b="0" u="none" strike="noStrike" dirty="0">
                          <a:effectLst/>
                        </a:rPr>
                        <a:t>T-cell activator)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Biologics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289193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Rare Disease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Iqirvo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ELSPIRE: PBC (</a:t>
                      </a:r>
                      <a:r>
                        <a:rPr lang="en-GB" sz="1100" b="0" u="none" strike="noStrike" dirty="0">
                          <a:effectLst/>
                        </a:rPr>
                        <a:t>PPAR </a:t>
                      </a:r>
                      <a:r>
                        <a:rPr lang="el-GR" sz="1100" b="0" u="none" strike="noStrike" dirty="0">
                          <a:effectLst/>
                        </a:rPr>
                        <a:t>α/δ </a:t>
                      </a:r>
                      <a:r>
                        <a:rPr lang="en-GB" sz="1100" b="0" u="none" strike="noStrike" dirty="0">
                          <a:effectLst/>
                        </a:rPr>
                        <a:t>agonist</a:t>
                      </a:r>
                      <a:r>
                        <a:rPr lang="en-FR" sz="1100" b="0" u="none" strike="noStrike" dirty="0">
                          <a:effectLst/>
                        </a:rPr>
                        <a:t>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III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53253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Rare Disease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Elafibranor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ELASCOPe: PSC (</a:t>
                      </a:r>
                      <a:r>
                        <a:rPr lang="en-GB" sz="1100" b="0" u="none" strike="noStrike" dirty="0">
                          <a:effectLst/>
                        </a:rPr>
                        <a:t>PPAR </a:t>
                      </a:r>
                      <a:r>
                        <a:rPr lang="el-GR" sz="1100" b="0" u="none" strike="noStrike" dirty="0">
                          <a:effectLst/>
                        </a:rPr>
                        <a:t>α/δ </a:t>
                      </a:r>
                      <a:r>
                        <a:rPr lang="en-GB" sz="1100" b="0" u="none" strike="noStrike" dirty="0">
                          <a:effectLst/>
                        </a:rPr>
                        <a:t>agonist</a:t>
                      </a:r>
                      <a:r>
                        <a:rPr lang="en-FR" sz="1100" b="0" u="none" strike="noStrike" dirty="0">
                          <a:effectLst/>
                        </a:rPr>
                        <a:t>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605821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Rare Disease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Bylvay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BOLD: biliary atresia (IBAT inhibitor</a:t>
                      </a: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01662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Dysport </a:t>
                      </a:r>
                      <a:r>
                        <a:rPr lang="en-FR" sz="1100" b="0" i="1" u="none" strike="noStrike" dirty="0">
                          <a:effectLst/>
                        </a:rPr>
                        <a:t>(expansion)</a:t>
                      </a:r>
                      <a:endParaRPr lang="en-FR" sz="1100" b="0" i="1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C/E-BEOND: chronic &amp; episodic migraine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Biologics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III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734273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LAURITE 1 &amp; 2: glabellar lines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047845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LANTIC: glabellar, forehead &amp; lateral canthal lines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222260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LANTIMA: adult upper-limb spasticity (Tx)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44297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Neuroscience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MERANTI: migraine (Tx)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711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CATALPA: cervical dystonia (Tx)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934021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26E004F-388A-17C6-74A1-C2BA97F5D1ED}"/>
              </a:ext>
            </a:extLst>
          </p:cNvPr>
          <p:cNvSpPr/>
          <p:nvPr/>
        </p:nvSpPr>
        <p:spPr>
          <a:xfrm>
            <a:off x="7292715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F3B326-8B6A-B43C-81BD-EDA44027FD6A}"/>
              </a:ext>
            </a:extLst>
          </p:cNvPr>
          <p:cNvSpPr txBox="1"/>
          <p:nvPr/>
        </p:nvSpPr>
        <p:spPr>
          <a:xfrm>
            <a:off x="7216869" y="1110343"/>
            <a:ext cx="4889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M&amp;A / Divestments / Partnerships / Licensing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C1399A-7403-EF60-98D3-0C73ECA8A1A8}"/>
              </a:ext>
            </a:extLst>
          </p:cNvPr>
          <p:cNvSpPr txBox="1"/>
          <p:nvPr/>
        </p:nvSpPr>
        <p:spPr>
          <a:xfrm>
            <a:off x="7292715" y="1533161"/>
            <a:ext cx="481408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M&amp;A / divestments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ImCheck</a:t>
            </a:r>
            <a:r>
              <a:rPr lang="en-US" sz="1200" dirty="0"/>
              <a:t> Therapeutics acquisition: ICT01, anti-BTN3A </a:t>
            </a:r>
            <a:r>
              <a:rPr lang="en-US" sz="1200" dirty="0" err="1"/>
              <a:t>mAb</a:t>
            </a:r>
            <a:r>
              <a:rPr lang="en-US" sz="1200" dirty="0"/>
              <a:t>, γ9δ2 T-cell activation in 1L unfit AML (2025)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Simcere</a:t>
            </a:r>
            <a:r>
              <a:rPr lang="en-US" sz="1200" dirty="0"/>
              <a:t> </a:t>
            </a:r>
            <a:r>
              <a:rPr lang="en-US" sz="1200" dirty="0" err="1"/>
              <a:t>Zaiming</a:t>
            </a:r>
            <a:r>
              <a:rPr lang="en-US" sz="1200" dirty="0"/>
              <a:t> license-in: SIM0613, LRRC15-targeting ADC, solid tumors (2025)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Consumer HealthCare divestment to </a:t>
            </a:r>
            <a:r>
              <a:rPr lang="en-US" sz="1200" dirty="0" err="1"/>
              <a:t>Mayoly</a:t>
            </a:r>
            <a:r>
              <a:rPr lang="en-US" sz="1200" dirty="0"/>
              <a:t> Spindler: full refocus on Specialty Care (2022)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Partnerships / licensing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Day One Biopharmaceuticals (</a:t>
            </a:r>
            <a:r>
              <a:rPr lang="en-US" sz="1200" dirty="0" err="1"/>
              <a:t>tovorafenib</a:t>
            </a:r>
            <a:r>
              <a:rPr lang="en-US" sz="1200" dirty="0"/>
              <a:t> / </a:t>
            </a:r>
            <a:r>
              <a:rPr lang="en-US" sz="1200" dirty="0" err="1"/>
              <a:t>Ojemda</a:t>
            </a:r>
            <a:r>
              <a:rPr lang="en-US" sz="1200" dirty="0"/>
              <a:t>, pediatric low-grade glioma) (2024)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Sutro Biopharma: license ROR1-targeting ADC, solid tumors. (2024)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Foreseen Biotechnology: license, first-in-class ADC, solid tumor. (2024)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0A8C9D-3489-78B1-A674-4818730DBD1B}"/>
              </a:ext>
            </a:extLst>
          </p:cNvPr>
          <p:cNvSpPr/>
          <p:nvPr/>
        </p:nvSpPr>
        <p:spPr>
          <a:xfrm>
            <a:off x="451104" y="5121619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C909B-1E11-0E16-D846-AED071EC5975}"/>
              </a:ext>
            </a:extLst>
          </p:cNvPr>
          <p:cNvSpPr txBox="1"/>
          <p:nvPr/>
        </p:nvSpPr>
        <p:spPr>
          <a:xfrm>
            <a:off x="375258" y="4775146"/>
            <a:ext cx="2115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Strategic direction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F4CE8E-138D-CE11-BEDF-A29113930B5B}"/>
              </a:ext>
            </a:extLst>
          </p:cNvPr>
          <p:cNvSpPr/>
          <p:nvPr/>
        </p:nvSpPr>
        <p:spPr>
          <a:xfrm>
            <a:off x="7368561" y="5024970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0CDFEB-05A0-99C5-2C6D-BE782D9C4E8D}"/>
              </a:ext>
            </a:extLst>
          </p:cNvPr>
          <p:cNvSpPr txBox="1"/>
          <p:nvPr/>
        </p:nvSpPr>
        <p:spPr>
          <a:xfrm>
            <a:off x="7292715" y="4678497"/>
            <a:ext cx="232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Key questions to ask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01670D-671A-2DCD-B1B0-256EF8F004DB}"/>
              </a:ext>
            </a:extLst>
          </p:cNvPr>
          <p:cNvSpPr txBox="1"/>
          <p:nvPr/>
        </p:nvSpPr>
        <p:spPr>
          <a:xfrm>
            <a:off x="451104" y="5167338"/>
            <a:ext cx="66040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Diversified specialty-care portfolio, with Oncology as the revenue backbone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Oncology driven by mature but resilient franchises: </a:t>
            </a:r>
            <a:r>
              <a:rPr lang="en-US" sz="1200" dirty="0" err="1"/>
              <a:t>Somatuline</a:t>
            </a:r>
            <a:r>
              <a:rPr lang="en-US" sz="1200" dirty="0"/>
              <a:t>, </a:t>
            </a:r>
            <a:r>
              <a:rPr lang="en-US" sz="1200" dirty="0" err="1"/>
              <a:t>Cabometyx</a:t>
            </a:r>
            <a:r>
              <a:rPr lang="en-US" sz="1200" dirty="0"/>
              <a:t>, </a:t>
            </a:r>
            <a:r>
              <a:rPr lang="en-US" sz="1200" dirty="0" err="1"/>
              <a:t>Decapeptyl</a:t>
            </a:r>
            <a:r>
              <a:rPr lang="en-US" sz="1200" dirty="0"/>
              <a:t>, </a:t>
            </a:r>
            <a:r>
              <a:rPr lang="en-US" sz="1200" dirty="0" err="1"/>
              <a:t>Onivyde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Rare Disease emerging as a second growth engine, led by </a:t>
            </a:r>
            <a:r>
              <a:rPr lang="en-US" sz="1200" dirty="0" err="1"/>
              <a:t>Iqirvo</a:t>
            </a:r>
            <a:r>
              <a:rPr lang="en-US" sz="1200" dirty="0"/>
              <a:t> and </a:t>
            </a:r>
            <a:r>
              <a:rPr lang="en-US" sz="1200" dirty="0" err="1"/>
              <a:t>Bylvay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Neuroscience anchored by Dysport, with </a:t>
            </a:r>
            <a:r>
              <a:rPr lang="en-US" sz="1200" dirty="0" err="1"/>
              <a:t>corabotase</a:t>
            </a:r>
            <a:r>
              <a:rPr lang="en-US" sz="1200" dirty="0"/>
              <a:t> as next-generation growth relay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Post-2020 external innovation engine: 30+ best-/first-in-class programs added through M&amp;A, licensing and partnerships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Strategic shift toward precision oncology, rare liver diseases and next-generation neurotoxins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1D0E5E-3D0B-19EB-58EF-4B8BF5D7C54D}"/>
              </a:ext>
            </a:extLst>
          </p:cNvPr>
          <p:cNvSpPr txBox="1"/>
          <p:nvPr/>
        </p:nvSpPr>
        <p:spPr>
          <a:xfrm>
            <a:off x="7292715" y="5116925"/>
            <a:ext cx="48140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Oncology: </a:t>
            </a:r>
            <a:r>
              <a:rPr lang="en-US" sz="1200" dirty="0"/>
              <a:t>Can Ipsen offset </a:t>
            </a:r>
            <a:r>
              <a:rPr lang="en-US" sz="1200" dirty="0" err="1"/>
              <a:t>Somatuline</a:t>
            </a:r>
            <a:r>
              <a:rPr lang="en-US" sz="1200" dirty="0"/>
              <a:t> LOE risk fast enough through </a:t>
            </a:r>
            <a:r>
              <a:rPr lang="en-US" sz="1200" dirty="0" err="1"/>
              <a:t>Cabometyx</a:t>
            </a:r>
            <a:r>
              <a:rPr lang="en-US" sz="1200" dirty="0"/>
              <a:t> / </a:t>
            </a:r>
            <a:r>
              <a:rPr lang="en-US" sz="1200" dirty="0" err="1"/>
              <a:t>Onivyde</a:t>
            </a:r>
            <a:r>
              <a:rPr lang="en-US" sz="1200" dirty="0"/>
              <a:t> / </a:t>
            </a:r>
            <a:r>
              <a:rPr lang="en-US" sz="1200" dirty="0" err="1"/>
              <a:t>Ojemda</a:t>
            </a:r>
            <a:r>
              <a:rPr lang="en-US" sz="1200" dirty="0"/>
              <a:t> and new precision-oncology modalities?</a:t>
            </a:r>
          </a:p>
          <a:p>
            <a:r>
              <a:rPr lang="en-US" sz="1200" b="1" dirty="0"/>
              <a:t>Rare Disease: </a:t>
            </a:r>
            <a:r>
              <a:rPr lang="en-US" sz="1200" dirty="0"/>
              <a:t>Is Ipsen building a true second TA pillar, or still using Rare Disease as portfolio diversification?</a:t>
            </a:r>
          </a:p>
          <a:p>
            <a:r>
              <a:rPr lang="en-US" sz="1200" b="1" dirty="0"/>
              <a:t>Neuroscience: </a:t>
            </a:r>
            <a:r>
              <a:rPr lang="en-US" sz="1200" dirty="0"/>
              <a:t>Is Dysport/</a:t>
            </a:r>
            <a:r>
              <a:rPr lang="en-US" sz="1200" dirty="0" err="1"/>
              <a:t>corabotase</a:t>
            </a:r>
            <a:r>
              <a:rPr lang="en-US" sz="1200" dirty="0"/>
              <a:t> enough to secure long-term growth, or does Ipsen need external neuro assets beyond toxin lifecycle expansion?</a:t>
            </a:r>
          </a:p>
        </p:txBody>
      </p:sp>
    </p:spTree>
    <p:extLst>
      <p:ext uri="{BB962C8B-B14F-4D97-AF65-F5344CB8AC3E}">
        <p14:creationId xmlns:p14="http://schemas.microsoft.com/office/powerpoint/2010/main" val="4202146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1083</Words>
  <Application>Microsoft Macintosh PowerPoint</Application>
  <PresentationFormat>Widescreen</PresentationFormat>
  <Paragraphs>257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Carlito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Benoit NEITTHOFFER</dc:creator>
  <cp:lastModifiedBy>Benoit NEITTHOFFER</cp:lastModifiedBy>
  <cp:revision>8</cp:revision>
  <dcterms:created xsi:type="dcterms:W3CDTF">2026-04-29T14:19:05Z</dcterms:created>
  <dcterms:modified xsi:type="dcterms:W3CDTF">2026-05-28T13:22:17Z</dcterms:modified>
</cp:coreProperties>
</file>